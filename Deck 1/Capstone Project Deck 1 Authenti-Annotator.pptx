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sldIdLst>
    <p:sldId id="256" r:id="rId2"/>
    <p:sldId id="257" r:id="rId3"/>
    <p:sldId id="266" r:id="rId4"/>
    <p:sldId id="259" r:id="rId5"/>
    <p:sldId id="263" r:id="rId6"/>
    <p:sldId id="264" r:id="rId7"/>
    <p:sldId id="267" r:id="rId8"/>
    <p:sldId id="258" r:id="rId9"/>
    <p:sldId id="262" r:id="rId10"/>
    <p:sldId id="269" r:id="rId11"/>
    <p:sldId id="260" r:id="rId12"/>
    <p:sldId id="272" r:id="rId13"/>
    <p:sldId id="273" r:id="rId14"/>
    <p:sldId id="271" r:id="rId15"/>
    <p:sldId id="261" r:id="rId16"/>
    <p:sldId id="276" r:id="rId17"/>
    <p:sldId id="274" r:id="rId18"/>
    <p:sldId id="277" r:id="rId19"/>
    <p:sldId id="275" r:id="rId20"/>
    <p:sldId id="265" r:id="rId21"/>
    <p:sldId id="268" r:id="rId22"/>
    <p:sldId id="280" r:id="rId23"/>
    <p:sldId id="270" r:id="rId24"/>
    <p:sldId id="278" r:id="rId25"/>
    <p:sldId id="279" r:id="rId26"/>
    <p:sldId id="28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80321" autoAdjust="0"/>
  </p:normalViewPr>
  <p:slideViewPr>
    <p:cSldViewPr snapToGrid="0">
      <p:cViewPr varScale="1">
        <p:scale>
          <a:sx n="128" d="100"/>
          <a:sy n="128" d="100"/>
        </p:scale>
        <p:origin x="157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4A670-1AD5-4C30-BB12-6617B976F1BB}" type="datetimeFigureOut">
              <a:rPr lang="en-US" smtClean="0"/>
              <a:t>4/3/2026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8F4757-806F-47ED-BDC7-9DA221A8357A}" type="slidenum">
              <a:rPr lang="en-US" smtClean="0"/>
              <a:t>‹#›</a:t>
            </a:fld>
            <a:endParaRPr lang="en-US"/>
          </a:p>
        </p:txBody>
      </p:sp>
    </p:spTree>
    <p:extLst>
      <p:ext uri="{BB962C8B-B14F-4D97-AF65-F5344CB8AC3E}">
        <p14:creationId xmlns:p14="http://schemas.microsoft.com/office/powerpoint/2010/main" val="359266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esteemed panel. My Capstone project, '</a:t>
            </a:r>
            <a:r>
              <a:rPr lang="en-US" dirty="0" err="1"/>
              <a:t>Authenti</a:t>
            </a:r>
            <a:r>
              <a:rPr lang="en-US" dirty="0"/>
              <a:t>-Annotator,' addresses a critical gap in the AI lifecycle: Data Integrity. As LLMs scale, the human feedback loop (RLHF) becomes vulnerable to 'bad faith' actors. This project proposes a forensic pipeline</a:t>
            </a:r>
            <a:r>
              <a:rPr lang="en-US" sz="1200" b="0" i="0" u="none" strike="noStrike" kern="1200" dirty="0">
                <a:solidFill>
                  <a:schemeClr val="tx1"/>
                </a:solidFill>
                <a:effectLst/>
                <a:latin typeface="+mn-lt"/>
                <a:ea typeface="+mn-ea"/>
                <a:cs typeface="+mn-cs"/>
              </a:rPr>
              <a:t>—branded as the Blackwell Suite—</a:t>
            </a:r>
            <a:r>
              <a:rPr lang="en-US" dirty="0"/>
              <a:t>that identifies systemic fraud and quality lapses through a combination of semantic embeddings and unsupervised behavioral clustering.</a:t>
            </a:r>
          </a:p>
        </p:txBody>
      </p:sp>
      <p:sp>
        <p:nvSpPr>
          <p:cNvPr id="4" name="Slide Number Placeholder 3"/>
          <p:cNvSpPr>
            <a:spLocks noGrp="1"/>
          </p:cNvSpPr>
          <p:nvPr>
            <p:ph type="sldNum" sz="quarter" idx="5"/>
          </p:nvPr>
        </p:nvSpPr>
        <p:spPr/>
        <p:txBody>
          <a:bodyPr/>
          <a:lstStyle/>
          <a:p>
            <a:fld id="{CB8F4757-806F-47ED-BDC7-9DA221A8357A}" type="slidenum">
              <a:rPr lang="en-US" smtClean="0"/>
              <a:t>1</a:t>
            </a:fld>
            <a:endParaRPr lang="en-US"/>
          </a:p>
        </p:txBody>
      </p:sp>
    </p:spTree>
    <p:extLst>
      <p:ext uri="{BB962C8B-B14F-4D97-AF65-F5344CB8AC3E}">
        <p14:creationId xmlns:p14="http://schemas.microsoft.com/office/powerpoint/2010/main" val="3296669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Step 1 of my roadmap, I framed this as a hybrid ML task. We’re not just looking for 'errors’; </a:t>
            </a:r>
            <a:r>
              <a:rPr lang="en-US" dirty="0" err="1"/>
              <a:t>We’ar</a:t>
            </a:r>
            <a:r>
              <a:rPr lang="en-US" dirty="0"/>
              <a:t> looking for 'behavioral anomalies.' Our goal is to protect the project budget by detecting 100% of high-risk outliers. Success isn't just accuracy—it’s about high </a:t>
            </a:r>
            <a:r>
              <a:rPr lang="en-US" b="1" dirty="0"/>
              <a:t>Recall</a:t>
            </a:r>
            <a:r>
              <a:rPr lang="en-US" dirty="0"/>
              <a:t>, ensuring that no fraudulent payout goes unflagged.</a:t>
            </a:r>
          </a:p>
        </p:txBody>
      </p:sp>
      <p:sp>
        <p:nvSpPr>
          <p:cNvPr id="4" name="Slide Number Placeholder 3"/>
          <p:cNvSpPr>
            <a:spLocks noGrp="1"/>
          </p:cNvSpPr>
          <p:nvPr>
            <p:ph type="sldNum" sz="quarter" idx="5"/>
          </p:nvPr>
        </p:nvSpPr>
        <p:spPr/>
        <p:txBody>
          <a:bodyPr/>
          <a:lstStyle/>
          <a:p>
            <a:fld id="{CB8F4757-806F-47ED-BDC7-9DA221A8357A}" type="slidenum">
              <a:rPr lang="en-US" smtClean="0"/>
              <a:t>2</a:t>
            </a:fld>
            <a:endParaRPr lang="en-US"/>
          </a:p>
        </p:txBody>
      </p:sp>
    </p:spTree>
    <p:extLst>
      <p:ext uri="{BB962C8B-B14F-4D97-AF65-F5344CB8AC3E}">
        <p14:creationId xmlns:p14="http://schemas.microsoft.com/office/powerpoint/2010/main" val="86697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foundation is built on the Anthropic HH-RLHF dataset. I didn't choose a 'toy' dataset; I chose the gold standard used by researchers to align models like Claude. This ensures our forensic auditor, Blackwell, is trained on high-stakes, nuanced data where the difference between a correct and a fraudulent choice is professionally significant.</a:t>
            </a:r>
          </a:p>
        </p:txBody>
      </p:sp>
      <p:sp>
        <p:nvSpPr>
          <p:cNvPr id="4" name="Slide Number Placeholder 3"/>
          <p:cNvSpPr>
            <a:spLocks noGrp="1"/>
          </p:cNvSpPr>
          <p:nvPr>
            <p:ph type="sldNum" sz="quarter" idx="5"/>
          </p:nvPr>
        </p:nvSpPr>
        <p:spPr/>
        <p:txBody>
          <a:bodyPr/>
          <a:lstStyle/>
          <a:p>
            <a:fld id="{CB8F4757-806F-47ED-BDC7-9DA221A8357A}" type="slidenum">
              <a:rPr lang="en-US" smtClean="0"/>
              <a:t>4</a:t>
            </a:fld>
            <a:endParaRPr lang="en-US"/>
          </a:p>
        </p:txBody>
      </p:sp>
    </p:spTree>
    <p:extLst>
      <p:ext uri="{BB962C8B-B14F-4D97-AF65-F5344CB8AC3E}">
        <p14:creationId xmlns:p14="http://schemas.microsoft.com/office/powerpoint/2010/main" val="3230600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Formula:</a:t>
                </a:r>
                <a:endParaRPr lang="en-US" i="0" dirty="0">
                  <a:latin typeface="Cambria Math" panose="02040503050406030204" pitchFamily="18" charset="0"/>
                </a:endParaRPr>
              </a:p>
              <a:p>
                <a:pPr/>
                <a:r>
                  <a:rPr lang="en-US" i="0">
                    <a:latin typeface="Cambria Math" panose="02040503050406030204" pitchFamily="18" charset="0"/>
                  </a:rPr>
                  <a:t>"similarity"=cos⁡(𝜃)=(𝐀⋅𝐁)/(\|𝐀\|\|𝐁\|)</a:t>
                </a:r>
                <a:endParaRPr lang="en-US" dirty="0"/>
              </a:p>
              <a:p>
                <a:pPr/>
                <a:endParaRPr lang="en-US" dirty="0"/>
              </a:p>
              <a:p>
                <a:pPr/>
                <a:endParaRPr lang="en-US" dirty="0"/>
              </a:p>
            </p:txBody>
          </p:sp>
        </mc:Fallback>
      </mc:AlternateContent>
      <p:sp>
        <p:nvSpPr>
          <p:cNvPr id="4" name="Slide Number Placeholder 3"/>
          <p:cNvSpPr>
            <a:spLocks noGrp="1"/>
          </p:cNvSpPr>
          <p:nvPr>
            <p:ph type="sldNum" sz="quarter" idx="5"/>
          </p:nvPr>
        </p:nvSpPr>
        <p:spPr/>
        <p:txBody>
          <a:bodyPr/>
          <a:lstStyle/>
          <a:p>
            <a:fld id="{CB8F4757-806F-47ED-BDC7-9DA221A8357A}" type="slidenum">
              <a:rPr lang="en-US" smtClean="0"/>
              <a:t>5</a:t>
            </a:fld>
            <a:endParaRPr lang="en-US"/>
          </a:p>
        </p:txBody>
      </p:sp>
    </p:spTree>
    <p:extLst>
      <p:ext uri="{BB962C8B-B14F-4D97-AF65-F5344CB8AC3E}">
        <p14:creationId xmlns:p14="http://schemas.microsoft.com/office/powerpoint/2010/main" val="3883128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Forensic Insight:</a:t>
            </a:r>
            <a:r>
              <a:rPr lang="en-US" sz="1200" b="0" i="0" kern="1200" dirty="0">
                <a:solidFill>
                  <a:schemeClr val="tx1"/>
                </a:solidFill>
                <a:effectLst/>
                <a:latin typeface="+mn-lt"/>
                <a:ea typeface="+mn-ea"/>
                <a:cs typeface="+mn-cs"/>
              </a:rPr>
              <a:t> This initial audit plot identifies a high-density cluster beyond the </a:t>
            </a:r>
            <a:r>
              <a:rPr lang="en-US" sz="1200" b="1" i="0" kern="1200" dirty="0">
                <a:solidFill>
                  <a:schemeClr val="tx1"/>
                </a:solidFill>
                <a:effectLst/>
                <a:latin typeface="+mn-lt"/>
                <a:ea typeface="+mn-ea"/>
                <a:cs typeface="+mn-cs"/>
              </a:rPr>
              <a:t>98% Similarity Threshold</a:t>
            </a:r>
            <a:r>
              <a:rPr lang="en-US" sz="1200" b="0" i="0" kern="1200" dirty="0">
                <a:solidFill>
                  <a:schemeClr val="tx1"/>
                </a:solidFill>
                <a:effectLst/>
                <a:latin typeface="+mn-lt"/>
                <a:ea typeface="+mn-ea"/>
                <a:cs typeface="+mn-cs"/>
              </a:rPr>
              <a:t> (Red Dashed Line). These are the "Logical Fallacies"—cases where experts claimed significant differences between two nearly identical responses. The vertical distribution also shows that length ratio alone isn't a strong fraud indicator, necessitating the inclusion of time-based metrics.</a:t>
            </a:r>
            <a:endParaRPr lang="en-US" dirty="0"/>
          </a:p>
        </p:txBody>
      </p:sp>
      <p:sp>
        <p:nvSpPr>
          <p:cNvPr id="4" name="Slide Number Placeholder 3"/>
          <p:cNvSpPr>
            <a:spLocks noGrp="1"/>
          </p:cNvSpPr>
          <p:nvPr>
            <p:ph type="sldNum" sz="quarter" idx="5"/>
          </p:nvPr>
        </p:nvSpPr>
        <p:spPr/>
        <p:txBody>
          <a:bodyPr/>
          <a:lstStyle/>
          <a:p>
            <a:fld id="{CB8F4757-806F-47ED-BDC7-9DA221A8357A}" type="slidenum">
              <a:rPr lang="en-US" smtClean="0"/>
              <a:t>6</a:t>
            </a:fld>
            <a:endParaRPr lang="en-US"/>
          </a:p>
        </p:txBody>
      </p:sp>
    </p:spTree>
    <p:extLst>
      <p:ext uri="{BB962C8B-B14F-4D97-AF65-F5344CB8AC3E}">
        <p14:creationId xmlns:p14="http://schemas.microsoft.com/office/powerpoint/2010/main" val="32483532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'Blackwell logic' begins. To prevent the model from simply memorizing keywords—which is a common pitfall called Overfitting—I implemented Randomized Justification Injection. By decoupling the text label from the behavioral metrics, it will later force the Random Forest to find the mathematical 'DNA' of fraud. This makes our system resilient against adaptive attackers who might change their wording but cannot hide their temporal and semantic inconsistencies.</a:t>
            </a:r>
          </a:p>
        </p:txBody>
      </p:sp>
      <p:sp>
        <p:nvSpPr>
          <p:cNvPr id="4" name="Slide Number Placeholder 3"/>
          <p:cNvSpPr>
            <a:spLocks noGrp="1"/>
          </p:cNvSpPr>
          <p:nvPr>
            <p:ph type="sldNum" sz="quarter" idx="5"/>
          </p:nvPr>
        </p:nvSpPr>
        <p:spPr/>
        <p:txBody>
          <a:bodyPr/>
          <a:lstStyle/>
          <a:p>
            <a:fld id="{CB8F4757-806F-47ED-BDC7-9DA221A8357A}" type="slidenum">
              <a:rPr lang="en-US" smtClean="0"/>
              <a:t>8</a:t>
            </a:fld>
            <a:endParaRPr lang="en-US"/>
          </a:p>
        </p:txBody>
      </p:sp>
    </p:spTree>
    <p:extLst>
      <p:ext uri="{BB962C8B-B14F-4D97-AF65-F5344CB8AC3E}">
        <p14:creationId xmlns:p14="http://schemas.microsoft.com/office/powerpoint/2010/main" val="758900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to unsupervised learning, I must validate our forensic signals. Step 3 of our roadmap involved a Multivariable Correlation Analysis. Based on the heatmap, I observed a moderate correlation between our anomaly flags and both 'Similarity' and 'Time'. This is statistically significant because it confirms that our engineered features are not arbitrary; they are the true 'fingerprints' of fraud. Furthermore, because no two features are perfectly correlated, I avoid redundancy, ensuring our PCA and Clustering phases are both efficient and accurate.</a:t>
            </a:r>
          </a:p>
        </p:txBody>
      </p:sp>
      <p:sp>
        <p:nvSpPr>
          <p:cNvPr id="4" name="Slide Number Placeholder 3"/>
          <p:cNvSpPr>
            <a:spLocks noGrp="1"/>
          </p:cNvSpPr>
          <p:nvPr>
            <p:ph type="sldNum" sz="quarter" idx="5"/>
          </p:nvPr>
        </p:nvSpPr>
        <p:spPr/>
        <p:txBody>
          <a:bodyPr/>
          <a:lstStyle/>
          <a:p>
            <a:fld id="{CB8F4757-806F-47ED-BDC7-9DA221A8357A}" type="slidenum">
              <a:rPr lang="en-US" smtClean="0"/>
              <a:t>9</a:t>
            </a:fld>
            <a:endParaRPr lang="en-US"/>
          </a:p>
        </p:txBody>
      </p:sp>
    </p:spTree>
    <p:extLst>
      <p:ext uri="{BB962C8B-B14F-4D97-AF65-F5344CB8AC3E}">
        <p14:creationId xmlns:p14="http://schemas.microsoft.com/office/powerpoint/2010/main" val="2249054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B8F4757-806F-47ED-BDC7-9DA221A8357A}" type="slidenum">
              <a:rPr lang="en-US" smtClean="0"/>
              <a:t>11</a:t>
            </a:fld>
            <a:endParaRPr lang="en-US"/>
          </a:p>
        </p:txBody>
      </p:sp>
    </p:spTree>
    <p:extLst>
      <p:ext uri="{BB962C8B-B14F-4D97-AF65-F5344CB8AC3E}">
        <p14:creationId xmlns:p14="http://schemas.microsoft.com/office/powerpoint/2010/main" val="127109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you can see in our </a:t>
            </a:r>
            <a:r>
              <a:rPr lang="en-US" sz="1200" b="1" kern="1200" dirty="0">
                <a:solidFill>
                  <a:schemeClr val="tx1"/>
                </a:solidFill>
                <a:effectLst/>
                <a:latin typeface="+mn-lt"/>
                <a:ea typeface="+mn-ea"/>
                <a:cs typeface="+mn-cs"/>
              </a:rPr>
              <a:t>Elbow Method Plot</a:t>
            </a:r>
            <a:r>
              <a:rPr lang="en-US" sz="1200" kern="1200" dirty="0">
                <a:solidFill>
                  <a:schemeClr val="tx1"/>
                </a:solidFill>
                <a:effectLst/>
                <a:latin typeface="+mn-lt"/>
                <a:ea typeface="+mn-ea"/>
                <a:cs typeface="+mn-cs"/>
              </a:rPr>
              <a:t>, the </a:t>
            </a:r>
            <a:r>
              <a:rPr lang="en-US" sz="1200" b="1" kern="1200" dirty="0">
                <a:solidFill>
                  <a:schemeClr val="tx1"/>
                </a:solidFill>
                <a:effectLst/>
                <a:latin typeface="+mn-lt"/>
                <a:ea typeface="+mn-ea"/>
                <a:cs typeface="+mn-cs"/>
              </a:rPr>
              <a:t>Inertia</a:t>
            </a:r>
            <a:r>
              <a:rPr lang="en-US" sz="1200" kern="1200" dirty="0">
                <a:solidFill>
                  <a:schemeClr val="tx1"/>
                </a:solidFill>
                <a:effectLst/>
                <a:latin typeface="+mn-lt"/>
                <a:ea typeface="+mn-ea"/>
                <a:cs typeface="+mn-cs"/>
              </a:rPr>
              <a:t> (which represents the internal variance of our clusters) shows a distinct 'bend' at </a:t>
            </a:r>
            <a:r>
              <a:rPr lang="en-US" sz="1200" b="1" kern="1200" dirty="0">
                <a:solidFill>
                  <a:schemeClr val="tx1"/>
                </a:solidFill>
                <a:effectLst/>
                <a:latin typeface="+mn-lt"/>
                <a:ea typeface="+mn-ea"/>
                <a:cs typeface="+mn-cs"/>
              </a:rPr>
              <a:t>k-4</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Mathematically, this point indicates the optimal balance between model complexity and group cohesion. It justifies our decision to categorize the RLHF workforce into four specific behavioral profiles.</a:t>
            </a:r>
          </a:p>
          <a:p>
            <a:r>
              <a:rPr lang="en-US" sz="1200" kern="1200" dirty="0">
                <a:solidFill>
                  <a:schemeClr val="tx1"/>
                </a:solidFill>
                <a:effectLst/>
                <a:latin typeface="+mn-lt"/>
                <a:ea typeface="+mn-ea"/>
                <a:cs typeface="+mn-cs"/>
              </a:rPr>
              <a:t>Beyond this point, any further clustering would result in </a:t>
            </a:r>
            <a:r>
              <a:rPr lang="en-US" sz="1200" b="1" kern="1200" dirty="0">
                <a:solidFill>
                  <a:schemeClr val="tx1"/>
                </a:solidFill>
                <a:effectLst/>
                <a:latin typeface="+mn-lt"/>
                <a:ea typeface="+mn-ea"/>
                <a:cs typeface="+mn-cs"/>
              </a:rPr>
              <a:t>Over-segmentation</a:t>
            </a:r>
            <a:r>
              <a:rPr lang="en-US" sz="1200" kern="1200" dirty="0">
                <a:solidFill>
                  <a:schemeClr val="tx1"/>
                </a:solidFill>
                <a:effectLst/>
                <a:latin typeface="+mn-lt"/>
                <a:ea typeface="+mn-ea"/>
                <a:cs typeface="+mn-cs"/>
              </a:rPr>
              <a:t>, where Blackwell might be flagging differences that are purely statistical noise rather than actual fraudulent behavior. This plot is our mathematical assurance that our audit categories are both stable and meaningful.</a:t>
            </a:r>
          </a:p>
          <a:p>
            <a:endParaRPr lang="en-US" dirty="0"/>
          </a:p>
        </p:txBody>
      </p:sp>
      <p:sp>
        <p:nvSpPr>
          <p:cNvPr id="4" name="Slide Number Placeholder 3"/>
          <p:cNvSpPr>
            <a:spLocks noGrp="1"/>
          </p:cNvSpPr>
          <p:nvPr>
            <p:ph type="sldNum" sz="quarter" idx="5"/>
          </p:nvPr>
        </p:nvSpPr>
        <p:spPr/>
        <p:txBody>
          <a:bodyPr/>
          <a:lstStyle/>
          <a:p>
            <a:fld id="{CB8F4757-806F-47ED-BDC7-9DA221A8357A}" type="slidenum">
              <a:rPr lang="en-US" smtClean="0"/>
              <a:t>12</a:t>
            </a:fld>
            <a:endParaRPr lang="en-US"/>
          </a:p>
        </p:txBody>
      </p:sp>
    </p:spTree>
    <p:extLst>
      <p:ext uri="{BB962C8B-B14F-4D97-AF65-F5344CB8AC3E}">
        <p14:creationId xmlns:p14="http://schemas.microsoft.com/office/powerpoint/2010/main" val="598636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finalizing our model, I needed to understand the </a:t>
            </a:r>
            <a:r>
              <a:rPr lang="en-US" b="1" dirty="0"/>
              <a:t>genealogy of expert behavior</a:t>
            </a:r>
            <a:r>
              <a:rPr lang="en-US" dirty="0"/>
              <a:t>. This Dendrogram serves as a 'Family Tree' for the 855 tasks analyzed.</a:t>
            </a:r>
          </a:p>
          <a:p>
            <a:r>
              <a:rPr lang="en-US" dirty="0"/>
              <a:t>Using </a:t>
            </a:r>
            <a:r>
              <a:rPr lang="en-US" b="1" dirty="0"/>
              <a:t>Ward’s Linkage</a:t>
            </a:r>
            <a:r>
              <a:rPr lang="en-US" dirty="0"/>
              <a:t>, the tasks are allowed to group themselves based on systemic variance. By applying a </a:t>
            </a:r>
            <a:r>
              <a:rPr lang="en-US" b="1" dirty="0"/>
              <a:t>Macro Similarity Threshold of 20</a:t>
            </a:r>
            <a:r>
              <a:rPr lang="en-US" dirty="0"/>
              <a:t>, I validated that the workforce naturally segregates into </a:t>
            </a:r>
            <a:r>
              <a:rPr lang="en-US" b="1" dirty="0"/>
              <a:t>four distinct clusters</a:t>
            </a:r>
            <a:r>
              <a:rPr lang="en-US" dirty="0"/>
              <a:t>.</a:t>
            </a:r>
          </a:p>
          <a:p>
            <a:r>
              <a:rPr lang="en-US" dirty="0"/>
              <a:t>What’s most important here is the </a:t>
            </a:r>
            <a:r>
              <a:rPr lang="en-US" b="1" dirty="0"/>
              <a:t>vertical distance</a:t>
            </a:r>
            <a:r>
              <a:rPr lang="en-US" dirty="0"/>
              <a:t>. Notice the high branches before the first split—this proves that 'Clean' work and 'Fraudulent' work are mathematically far apart, making them highly detectable. This visualization provides the foundational evidence that our </a:t>
            </a:r>
            <a:r>
              <a:rPr lang="en-US" b="1" dirty="0"/>
              <a:t>Blackwell Suite</a:t>
            </a:r>
            <a:r>
              <a:rPr lang="en-US" dirty="0"/>
              <a:t> isn't just flagging random errors, but is identifying deep-seated, systemic behavioral patterns.</a:t>
            </a:r>
          </a:p>
          <a:p>
            <a:endParaRPr lang="en-US" dirty="0"/>
          </a:p>
        </p:txBody>
      </p:sp>
      <p:sp>
        <p:nvSpPr>
          <p:cNvPr id="4" name="Slide Number Placeholder 3"/>
          <p:cNvSpPr>
            <a:spLocks noGrp="1"/>
          </p:cNvSpPr>
          <p:nvPr>
            <p:ph type="sldNum" sz="quarter" idx="5"/>
          </p:nvPr>
        </p:nvSpPr>
        <p:spPr/>
        <p:txBody>
          <a:bodyPr/>
          <a:lstStyle/>
          <a:p>
            <a:fld id="{CB8F4757-806F-47ED-BDC7-9DA221A8357A}" type="slidenum">
              <a:rPr lang="en-US" smtClean="0"/>
              <a:t>15</a:t>
            </a:fld>
            <a:endParaRPr lang="en-US"/>
          </a:p>
        </p:txBody>
      </p:sp>
    </p:spTree>
    <p:extLst>
      <p:ext uri="{BB962C8B-B14F-4D97-AF65-F5344CB8AC3E}">
        <p14:creationId xmlns:p14="http://schemas.microsoft.com/office/powerpoint/2010/main" val="3266707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once we identified our behavioral clusters, we moved to the </a:t>
            </a:r>
            <a:r>
              <a:rPr lang="en-US" b="1" dirty="0"/>
              <a:t>Supervised Learning</a:t>
            </a:r>
            <a:r>
              <a:rPr lang="en-US" dirty="0"/>
              <a:t> phase to automate the audit process.</a:t>
            </a:r>
          </a:p>
          <a:p>
            <a:r>
              <a:rPr lang="en-US" dirty="0"/>
              <a:t>We employed a </a:t>
            </a:r>
            <a:r>
              <a:rPr lang="en-US" b="1" dirty="0"/>
              <a:t>Random Forest Classifier</a:t>
            </a:r>
            <a:r>
              <a:rPr lang="en-US" dirty="0"/>
              <a:t>, which is an ensemble of 100 decision trees working in parallel. To ensure the integrity of our results, we performed an </a:t>
            </a:r>
            <a:r>
              <a:rPr lang="en-US" b="1" dirty="0"/>
              <a:t>80/20 split</a:t>
            </a:r>
            <a:r>
              <a:rPr lang="en-US" dirty="0"/>
              <a:t>, reserving 20% of the data strictly for testing. This allows us to verify that the Blackwell Suite can detect anomalies in new, unseen tasks—not just the ones it was trained on.</a:t>
            </a:r>
          </a:p>
          <a:p>
            <a:r>
              <a:rPr lang="en-US" dirty="0"/>
              <a:t>A key advantage of this methodology is </a:t>
            </a:r>
            <a:r>
              <a:rPr lang="en-US" b="1" dirty="0"/>
              <a:t>Feature Importance</a:t>
            </a:r>
            <a:r>
              <a:rPr lang="en-US" dirty="0"/>
              <a:t>. As seen in the horizontal bar chart, the model identifies which 'forensic indicators' are the most significant. For instance, it might find that a high similarity score combined with a very low completion time is the most 'telling' sign of a speed-runner. This transforms the model from a 'black box' into a transparent forensic tool that provides actionable insights for micro1 managers.</a:t>
            </a:r>
          </a:p>
          <a:p>
            <a:endParaRPr lang="en-US" dirty="0"/>
          </a:p>
        </p:txBody>
      </p:sp>
      <p:sp>
        <p:nvSpPr>
          <p:cNvPr id="4" name="Slide Number Placeholder 3"/>
          <p:cNvSpPr>
            <a:spLocks noGrp="1"/>
          </p:cNvSpPr>
          <p:nvPr>
            <p:ph type="sldNum" sz="quarter" idx="5"/>
          </p:nvPr>
        </p:nvSpPr>
        <p:spPr/>
        <p:txBody>
          <a:bodyPr/>
          <a:lstStyle/>
          <a:p>
            <a:fld id="{CB8F4757-806F-47ED-BDC7-9DA221A8357A}" type="slidenum">
              <a:rPr lang="en-US" smtClean="0"/>
              <a:t>20</a:t>
            </a:fld>
            <a:endParaRPr lang="en-US"/>
          </a:p>
        </p:txBody>
      </p:sp>
    </p:spTree>
    <p:extLst>
      <p:ext uri="{BB962C8B-B14F-4D97-AF65-F5344CB8AC3E}">
        <p14:creationId xmlns:p14="http://schemas.microsoft.com/office/powerpoint/2010/main" val="3681764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Random Forest model was used to train the mode to make it 'Audit-Ready,' I implemented Chaos Injection by adding Gaussian noise. Adding it ensured the model doesn't unfairly flag naturally proficient workers, effectively mitigating 'Proficiency </a:t>
            </a:r>
            <a:r>
              <a:rPr lang="en-US" sz="1200" b="0" i="0" u="none" strike="noStrike" kern="1200" dirty="0" err="1">
                <a:solidFill>
                  <a:schemeClr val="tx1"/>
                </a:solidFill>
                <a:effectLst/>
                <a:latin typeface="+mn-lt"/>
                <a:ea typeface="+mn-ea"/>
                <a:cs typeface="+mn-cs"/>
              </a:rPr>
              <a:t>Bias'</a:t>
            </a:r>
            <a:r>
              <a:rPr lang="en-US" sz="1200" b="0" i="0" u="none" strike="noStrike" kern="1200" dirty="0">
                <a:solidFill>
                  <a:schemeClr val="tx1"/>
                </a:solidFill>
                <a:effectLst/>
                <a:latin typeface="+mn-lt"/>
                <a:ea typeface="+mn-ea"/>
                <a:cs typeface="+mn-cs"/>
              </a:rPr>
              <a:t>—a key ethical concern in AI auditing.</a:t>
            </a:r>
            <a:endParaRPr lang="en-US" dirty="0"/>
          </a:p>
        </p:txBody>
      </p:sp>
      <p:sp>
        <p:nvSpPr>
          <p:cNvPr id="4" name="Slide Number Placeholder 3"/>
          <p:cNvSpPr>
            <a:spLocks noGrp="1"/>
          </p:cNvSpPr>
          <p:nvPr>
            <p:ph type="sldNum" sz="quarter" idx="5"/>
          </p:nvPr>
        </p:nvSpPr>
        <p:spPr/>
        <p:txBody>
          <a:bodyPr/>
          <a:lstStyle/>
          <a:p>
            <a:fld id="{CB8F4757-806F-47ED-BDC7-9DA221A8357A}" type="slidenum">
              <a:rPr lang="en-US" smtClean="0"/>
              <a:t>21</a:t>
            </a:fld>
            <a:endParaRPr lang="en-US"/>
          </a:p>
        </p:txBody>
      </p:sp>
    </p:spTree>
    <p:extLst>
      <p:ext uri="{BB962C8B-B14F-4D97-AF65-F5344CB8AC3E}">
        <p14:creationId xmlns:p14="http://schemas.microsoft.com/office/powerpoint/2010/main" val="2467472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a:t>
            </a:r>
            <a:r>
              <a:rPr lang="en-US" b="1" dirty="0"/>
              <a:t>Confusion Matrix</a:t>
            </a:r>
            <a:r>
              <a:rPr lang="en-US" dirty="0"/>
              <a:t>, you can see that the Blackwell audit system successfully isolated </a:t>
            </a:r>
            <a:r>
              <a:rPr lang="en-US" b="1" dirty="0"/>
              <a:t>142 fraudulent tasks</a:t>
            </a:r>
            <a:r>
              <a:rPr lang="en-US" dirty="0"/>
              <a:t>. While there are 51 False Positives, this represents a 'Safety-First' forensic strategy—we would rather flag a suspicious task for human review than allow a potential fraud to pass through undetected. This result proves that the Blackwell Suite is a highly effective filter for maintaining data integrity at micro1.</a:t>
            </a:r>
          </a:p>
        </p:txBody>
      </p:sp>
      <p:sp>
        <p:nvSpPr>
          <p:cNvPr id="4" name="Slide Number Placeholder 3"/>
          <p:cNvSpPr>
            <a:spLocks noGrp="1"/>
          </p:cNvSpPr>
          <p:nvPr>
            <p:ph type="sldNum" sz="quarter" idx="5"/>
          </p:nvPr>
        </p:nvSpPr>
        <p:spPr/>
        <p:txBody>
          <a:bodyPr/>
          <a:lstStyle/>
          <a:p>
            <a:fld id="{CB8F4757-806F-47ED-BDC7-9DA221A8357A}" type="slidenum">
              <a:rPr lang="en-US" smtClean="0"/>
              <a:t>22</a:t>
            </a:fld>
            <a:endParaRPr lang="en-US"/>
          </a:p>
        </p:txBody>
      </p:sp>
    </p:spTree>
    <p:extLst>
      <p:ext uri="{BB962C8B-B14F-4D97-AF65-F5344CB8AC3E}">
        <p14:creationId xmlns:p14="http://schemas.microsoft.com/office/powerpoint/2010/main" val="1369305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a:t>
            </a:r>
            <a:r>
              <a:rPr lang="en-US" b="1" dirty="0"/>
              <a:t>Random Forest</a:t>
            </a:r>
            <a:r>
              <a:rPr lang="en-US" dirty="0"/>
              <a:t> results, I strategically prioritized </a:t>
            </a:r>
            <a:r>
              <a:rPr lang="en-US" b="1" dirty="0"/>
              <a:t>Recall</a:t>
            </a:r>
            <a:r>
              <a:rPr lang="en-US" dirty="0"/>
              <a:t> over simple Accuracy.</a:t>
            </a:r>
          </a:p>
          <a:p>
            <a:endParaRPr lang="en-US" dirty="0"/>
          </a:p>
          <a:p>
            <a:r>
              <a:rPr lang="en-US" dirty="0"/>
              <a:t>You might ask, 'Why Recall?' In the context of a forensic audit, the cost of a </a:t>
            </a:r>
            <a:r>
              <a:rPr lang="en-US" b="1" dirty="0"/>
              <a:t>False Negative</a:t>
            </a:r>
            <a:r>
              <a:rPr lang="en-US" b="0" dirty="0"/>
              <a:t>, meaning </a:t>
            </a:r>
            <a:r>
              <a:rPr lang="en-US" dirty="0"/>
              <a:t>letting a 'Bad Actor' or a fraudulent task slip through, is significantly higher than a </a:t>
            </a:r>
            <a:r>
              <a:rPr lang="en-US" b="1" dirty="0"/>
              <a:t>False Positive</a:t>
            </a:r>
            <a:r>
              <a:rPr lang="en-US" dirty="0"/>
              <a:t>, where an 'Honest Worker' is flagged for a manual double-check.</a:t>
            </a:r>
          </a:p>
          <a:p>
            <a:endParaRPr lang="en-US" dirty="0"/>
          </a:p>
          <a:p>
            <a:r>
              <a:rPr lang="en-US" dirty="0"/>
              <a:t>Our </a:t>
            </a:r>
            <a:r>
              <a:rPr lang="en-US" b="1" dirty="0"/>
              <a:t>83% Recall</a:t>
            </a:r>
            <a:r>
              <a:rPr lang="en-US" dirty="0"/>
              <a:t> rate is a testament to the </a:t>
            </a:r>
            <a:r>
              <a:rPr lang="en-US" b="1" dirty="0"/>
              <a:t>Blackwell Suite’s</a:t>
            </a:r>
            <a:r>
              <a:rPr lang="en-US" dirty="0"/>
              <a:t> effectiveness as a high-sensitivity auditing tool. It ensures that the vast majority of fraudulent attempts are captured and isolated before they can compromise the integrity of the AI training process. I chose to build a 'tight' safety net to guarantee that the final data used for model alignment remains clean and reliable.</a:t>
            </a:r>
          </a:p>
          <a:p>
            <a:endParaRPr lang="en-US" dirty="0"/>
          </a:p>
        </p:txBody>
      </p:sp>
      <p:sp>
        <p:nvSpPr>
          <p:cNvPr id="4" name="Slide Number Placeholder 3"/>
          <p:cNvSpPr>
            <a:spLocks noGrp="1"/>
          </p:cNvSpPr>
          <p:nvPr>
            <p:ph type="sldNum" sz="quarter" idx="5"/>
          </p:nvPr>
        </p:nvSpPr>
        <p:spPr/>
        <p:txBody>
          <a:bodyPr/>
          <a:lstStyle/>
          <a:p>
            <a:fld id="{CB8F4757-806F-47ED-BDC7-9DA221A8357A}" type="slidenum">
              <a:rPr lang="en-US" smtClean="0"/>
              <a:t>23</a:t>
            </a:fld>
            <a:endParaRPr lang="en-US"/>
          </a:p>
        </p:txBody>
      </p:sp>
    </p:spTree>
    <p:extLst>
      <p:ext uri="{BB962C8B-B14F-4D97-AF65-F5344CB8AC3E}">
        <p14:creationId xmlns:p14="http://schemas.microsoft.com/office/powerpoint/2010/main" val="12670319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a:solidFill>
                  <a:schemeClr val="tx1"/>
                </a:solidFill>
                <a:effectLst/>
                <a:latin typeface="+mn-lt"/>
                <a:ea typeface="+mn-ea"/>
                <a:cs typeface="+mn-cs"/>
              </a:rPr>
              <a:t>In </a:t>
            </a:r>
            <a:r>
              <a:rPr lang="en-US" sz="1200" b="0" i="0" u="none" strike="noStrike" kern="1200" dirty="0">
                <a:solidFill>
                  <a:schemeClr val="tx1"/>
                </a:solidFill>
                <a:effectLst/>
                <a:latin typeface="+mn-lt"/>
                <a:ea typeface="+mn-ea"/>
                <a:cs typeface="+mn-cs"/>
              </a:rPr>
              <a:t>Step 9 of the guide, I added a Generative AI layer in the deployment app. While the Random Forest flags a task, the </a:t>
            </a:r>
            <a:r>
              <a:rPr lang="en-US" sz="1200" b="1" i="0" u="none" strike="noStrike" kern="1200" dirty="0">
                <a:solidFill>
                  <a:schemeClr val="tx1"/>
                </a:solidFill>
                <a:effectLst/>
                <a:latin typeface="+mn-lt"/>
                <a:ea typeface="+mn-ea"/>
                <a:cs typeface="+mn-cs"/>
              </a:rPr>
              <a:t>Blackwell Reasoner</a:t>
            </a:r>
            <a:r>
              <a:rPr lang="en-US" sz="1200" b="0" i="0" u="none" strike="noStrike" kern="1200" dirty="0">
                <a:solidFill>
                  <a:schemeClr val="tx1"/>
                </a:solidFill>
                <a:effectLst/>
                <a:latin typeface="+mn-lt"/>
                <a:ea typeface="+mn-ea"/>
                <a:cs typeface="+mn-cs"/>
              </a:rPr>
              <a:t>—powered by GPT-2—explains </a:t>
            </a:r>
            <a:r>
              <a:rPr lang="en-US" sz="1200" b="0" i="1" u="none" strike="noStrike" kern="1200" dirty="0">
                <a:solidFill>
                  <a:schemeClr val="tx1"/>
                </a:solidFill>
                <a:effectLst/>
                <a:latin typeface="+mn-lt"/>
                <a:ea typeface="+mn-ea"/>
                <a:cs typeface="+mn-cs"/>
              </a:rPr>
              <a:t>why</a:t>
            </a:r>
            <a:r>
              <a:rPr lang="en-US" sz="1200" b="0" i="0" u="none" strike="noStrike" kern="1200" dirty="0">
                <a:solidFill>
                  <a:schemeClr val="tx1"/>
                </a:solidFill>
                <a:effectLst/>
                <a:latin typeface="+mn-lt"/>
                <a:ea typeface="+mn-ea"/>
                <a:cs typeface="+mn-cs"/>
              </a:rPr>
              <a:t>. It analyzes the semantic gap and provides a natural language justification. This ensures transparency, allowing human auditors to understand the AI's logic instantly without looking at raw data.</a:t>
            </a:r>
            <a:endParaRPr lang="en-US" dirty="0"/>
          </a:p>
        </p:txBody>
      </p:sp>
      <p:sp>
        <p:nvSpPr>
          <p:cNvPr id="4" name="Slide Number Placeholder 3"/>
          <p:cNvSpPr>
            <a:spLocks noGrp="1"/>
          </p:cNvSpPr>
          <p:nvPr>
            <p:ph type="sldNum" sz="quarter" idx="5"/>
          </p:nvPr>
        </p:nvSpPr>
        <p:spPr/>
        <p:txBody>
          <a:bodyPr/>
          <a:lstStyle/>
          <a:p>
            <a:fld id="{CB8F4757-806F-47ED-BDC7-9DA221A8357A}" type="slidenum">
              <a:rPr lang="en-US" smtClean="0"/>
              <a:t>25</a:t>
            </a:fld>
            <a:endParaRPr lang="en-US"/>
          </a:p>
        </p:txBody>
      </p:sp>
    </p:spTree>
    <p:extLst>
      <p:ext uri="{BB962C8B-B14F-4D97-AF65-F5344CB8AC3E}">
        <p14:creationId xmlns:p14="http://schemas.microsoft.com/office/powerpoint/2010/main" val="11740752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86024B0-0ADC-48B0-BDFA-6C0AEE8EE87B}"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4077326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6024B0-0ADC-48B0-BDFA-6C0AEE8EE87B}"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2957120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6024B0-0ADC-48B0-BDFA-6C0AEE8EE87B}"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2833171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6024B0-0ADC-48B0-BDFA-6C0AEE8EE87B}"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83237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6024B0-0ADC-48B0-BDFA-6C0AEE8EE87B}" type="datetimeFigureOut">
              <a:rPr lang="en-US" smtClean="0"/>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4387182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6024B0-0ADC-48B0-BDFA-6C0AEE8EE87B}" type="datetimeFigureOut">
              <a:rPr lang="en-US" smtClean="0"/>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3666049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6024B0-0ADC-48B0-BDFA-6C0AEE8EE87B}" type="datetimeFigureOut">
              <a:rPr lang="en-US" smtClean="0"/>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1181419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6024B0-0ADC-48B0-BDFA-6C0AEE8EE87B}"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2812134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6024B0-0ADC-48B0-BDFA-6C0AEE8EE87B}"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2843309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6024B0-0ADC-48B0-BDFA-6C0AEE8EE87B}"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344088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6024B0-0ADC-48B0-BDFA-6C0AEE8EE87B}"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396919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6024B0-0ADC-48B0-BDFA-6C0AEE8EE87B}"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14DFAA-6E30-401F-82AE-0546A4BB7678}"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73106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6024B0-0ADC-48B0-BDFA-6C0AEE8EE87B}"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42411088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86024B0-0ADC-48B0-BDFA-6C0AEE8EE87B}" type="datetimeFigureOut">
              <a:rPr lang="en-US" smtClean="0"/>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35466563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86024B0-0ADC-48B0-BDFA-6C0AEE8EE87B}" type="datetimeFigureOut">
              <a:rPr lang="en-US" smtClean="0"/>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19406970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6024B0-0ADC-48B0-BDFA-6C0AEE8EE87B}"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38333432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6024B0-0ADC-48B0-BDFA-6C0AEE8EE87B}"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14DFAA-6E30-401F-82AE-0546A4BB7678}" type="slidenum">
              <a:rPr lang="en-US" smtClean="0"/>
              <a:t>‹#›</a:t>
            </a:fld>
            <a:endParaRPr lang="en-US"/>
          </a:p>
        </p:txBody>
      </p:sp>
    </p:spTree>
    <p:extLst>
      <p:ext uri="{BB962C8B-B14F-4D97-AF65-F5344CB8AC3E}">
        <p14:creationId xmlns:p14="http://schemas.microsoft.com/office/powerpoint/2010/main" val="512610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86024B0-0ADC-48B0-BDFA-6C0AEE8EE87B}" type="datetimeFigureOut">
              <a:rPr lang="en-US" smtClean="0"/>
              <a:t>4/3/2026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F14DFAA-6E30-401F-82AE-0546A4BB7678}" type="slidenum">
              <a:rPr lang="en-US" smtClean="0"/>
              <a:t>‹#›</a:t>
            </a:fld>
            <a:endParaRPr lang="en-US"/>
          </a:p>
        </p:txBody>
      </p:sp>
    </p:spTree>
    <p:extLst>
      <p:ext uri="{BB962C8B-B14F-4D97-AF65-F5344CB8AC3E}">
        <p14:creationId xmlns:p14="http://schemas.microsoft.com/office/powerpoint/2010/main" val="2770581345"/>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huggingface.co/datasets/Anthropic/hh-rlh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C268D-B6F0-2568-5F90-2CE9EEE91AEA}"/>
              </a:ext>
            </a:extLst>
          </p:cNvPr>
          <p:cNvSpPr>
            <a:spLocks noGrp="1"/>
          </p:cNvSpPr>
          <p:nvPr>
            <p:ph type="ctrTitle"/>
          </p:nvPr>
        </p:nvSpPr>
        <p:spPr>
          <a:xfrm>
            <a:off x="1524000" y="1246910"/>
            <a:ext cx="9144000" cy="1377537"/>
          </a:xfrm>
        </p:spPr>
        <p:txBody>
          <a:bodyPr>
            <a:normAutofit fontScale="90000"/>
          </a:bodyPr>
          <a:lstStyle/>
          <a:p>
            <a:r>
              <a:rPr lang="en-US" dirty="0" err="1"/>
              <a:t>Authenti</a:t>
            </a:r>
            <a:r>
              <a:rPr lang="en-US" dirty="0"/>
              <a:t>-Annotator</a:t>
            </a:r>
            <a:br>
              <a:rPr lang="en-US" dirty="0"/>
            </a:br>
            <a:r>
              <a:rPr lang="en-US" sz="3200" dirty="0"/>
              <a:t>A Multi-Layered Forensic Pipeline for RLHF Integrity</a:t>
            </a:r>
            <a:endParaRPr lang="en-US" dirty="0"/>
          </a:p>
        </p:txBody>
      </p:sp>
      <p:sp>
        <p:nvSpPr>
          <p:cNvPr id="3" name="Subtitle 2">
            <a:extLst>
              <a:ext uri="{FF2B5EF4-FFF2-40B4-BE49-F238E27FC236}">
                <a16:creationId xmlns:a16="http://schemas.microsoft.com/office/drawing/2014/main" id="{9C5CEFE0-A531-BCF5-C4F3-D4A8A015C3F7}"/>
              </a:ext>
            </a:extLst>
          </p:cNvPr>
          <p:cNvSpPr>
            <a:spLocks noGrp="1"/>
          </p:cNvSpPr>
          <p:nvPr>
            <p:ph type="subTitle" idx="1"/>
          </p:nvPr>
        </p:nvSpPr>
        <p:spPr>
          <a:xfrm>
            <a:off x="1524000" y="2972648"/>
            <a:ext cx="9144000" cy="3012517"/>
          </a:xfrm>
        </p:spPr>
        <p:txBody>
          <a:bodyPr>
            <a:normAutofit/>
          </a:bodyPr>
          <a:lstStyle/>
          <a:p>
            <a:br>
              <a:rPr lang="en-US" dirty="0"/>
            </a:br>
            <a:r>
              <a:rPr lang="en-US" dirty="0"/>
              <a:t>Systemic Anomaly Detection in Administrative Management using SBERT, Random Forrest, K-means and Hierarchical Clustering</a:t>
            </a:r>
          </a:p>
          <a:p>
            <a:endParaRPr lang="en-US" dirty="0"/>
          </a:p>
          <a:p>
            <a:r>
              <a:rPr lang="en-US" dirty="0"/>
              <a:t>A CAPSTONE Project by Adrian Rapanut</a:t>
            </a:r>
          </a:p>
          <a:p>
            <a:r>
              <a:rPr lang="en-US" dirty="0"/>
              <a:t>Post Graduate </a:t>
            </a:r>
            <a:r>
              <a:rPr lang="en-US" dirty="0" err="1"/>
              <a:t>Diplomoa</a:t>
            </a:r>
            <a:r>
              <a:rPr lang="en-US" dirty="0"/>
              <a:t> in AI and Machine Learning</a:t>
            </a:r>
          </a:p>
          <a:p>
            <a:r>
              <a:rPr lang="en-US" dirty="0"/>
              <a:t>Asian </a:t>
            </a:r>
            <a:r>
              <a:rPr lang="en-US" dirty="0" err="1"/>
              <a:t>Institutue</a:t>
            </a:r>
            <a:r>
              <a:rPr lang="en-US" dirty="0"/>
              <a:t> of Management (AIM)</a:t>
            </a:r>
          </a:p>
        </p:txBody>
      </p:sp>
    </p:spTree>
    <p:extLst>
      <p:ext uri="{BB962C8B-B14F-4D97-AF65-F5344CB8AC3E}">
        <p14:creationId xmlns:p14="http://schemas.microsoft.com/office/powerpoint/2010/main" val="1386648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FB1AD-09EB-0D2F-A9EC-075085DF3461}"/>
              </a:ext>
            </a:extLst>
          </p:cNvPr>
          <p:cNvSpPr>
            <a:spLocks noGrp="1"/>
          </p:cNvSpPr>
          <p:nvPr>
            <p:ph type="title"/>
          </p:nvPr>
        </p:nvSpPr>
        <p:spPr/>
        <p:txBody>
          <a:bodyPr/>
          <a:lstStyle/>
          <a:p>
            <a:r>
              <a:rPr lang="en-US" dirty="0"/>
              <a:t>Problem Framing &amp; Success Metrics</a:t>
            </a:r>
          </a:p>
        </p:txBody>
      </p:sp>
      <p:sp>
        <p:nvSpPr>
          <p:cNvPr id="3" name="Content Placeholder 2">
            <a:extLst>
              <a:ext uri="{FF2B5EF4-FFF2-40B4-BE49-F238E27FC236}">
                <a16:creationId xmlns:a16="http://schemas.microsoft.com/office/drawing/2014/main" id="{38040C6C-6B8F-D54C-640B-968ACC3A9634}"/>
              </a:ext>
            </a:extLst>
          </p:cNvPr>
          <p:cNvSpPr>
            <a:spLocks noGrp="1"/>
          </p:cNvSpPr>
          <p:nvPr>
            <p:ph idx="1"/>
          </p:nvPr>
        </p:nvSpPr>
        <p:spPr/>
        <p:txBody>
          <a:bodyPr>
            <a:normAutofit/>
          </a:bodyPr>
          <a:lstStyle/>
          <a:p>
            <a:r>
              <a:rPr lang="en-US" b="1" dirty="0"/>
              <a:t>The Problem:</a:t>
            </a:r>
            <a:r>
              <a:rPr lang="en-US" dirty="0"/>
              <a:t> High-volume Administrative Management tasks are prone to 'Time-Padding' (artificially inflating billing) and 'Semantic Hallucinations' (low-effort AI-generated responses).</a:t>
            </a:r>
          </a:p>
          <a:p>
            <a:r>
              <a:rPr lang="en-US" b="1" dirty="0"/>
              <a:t>Technical Task:</a:t>
            </a:r>
            <a:r>
              <a:rPr lang="en-US" dirty="0"/>
              <a:t> </a:t>
            </a:r>
          </a:p>
          <a:p>
            <a:pPr lvl="1"/>
            <a:r>
              <a:rPr lang="en-US" b="1" dirty="0"/>
              <a:t>Phase A:</a:t>
            </a:r>
            <a:r>
              <a:rPr lang="en-US" dirty="0"/>
              <a:t> Supervised Classification (Forensic Labeling).</a:t>
            </a:r>
            <a:endParaRPr lang="en-US" b="1" dirty="0"/>
          </a:p>
          <a:p>
            <a:pPr lvl="1"/>
            <a:r>
              <a:rPr lang="en-US" b="1" dirty="0"/>
              <a:t>Phase B:</a:t>
            </a:r>
            <a:r>
              <a:rPr lang="en-US" dirty="0"/>
              <a:t> Unsupervised Anomaly Detection (Clustering).</a:t>
            </a:r>
          </a:p>
          <a:p>
            <a:r>
              <a:rPr lang="en-US" b="1" dirty="0"/>
              <a:t>Success Metrics:</a:t>
            </a:r>
            <a:endParaRPr lang="en-US" dirty="0"/>
          </a:p>
          <a:p>
            <a:pPr lvl="1"/>
            <a:r>
              <a:rPr lang="en-US" b="1" dirty="0"/>
              <a:t>Primary:</a:t>
            </a:r>
            <a:r>
              <a:rPr lang="en-US" dirty="0"/>
              <a:t> F1-Score &amp; Recall (Prioritizing the detection of all potential fraud cases).</a:t>
            </a:r>
          </a:p>
          <a:p>
            <a:pPr lvl="1"/>
            <a:r>
              <a:rPr lang="en-US" b="1" dirty="0"/>
              <a:t>Secondary:</a:t>
            </a:r>
            <a:r>
              <a:rPr lang="en-US" dirty="0"/>
              <a:t> Silhouette Score (Cluster cohesion).</a:t>
            </a:r>
          </a:p>
          <a:p>
            <a:endParaRPr lang="en-US" dirty="0"/>
          </a:p>
          <a:p>
            <a:endParaRPr lang="en-US" dirty="0"/>
          </a:p>
        </p:txBody>
      </p:sp>
    </p:spTree>
    <p:extLst>
      <p:ext uri="{BB962C8B-B14F-4D97-AF65-F5344CB8AC3E}">
        <p14:creationId xmlns:p14="http://schemas.microsoft.com/office/powerpoint/2010/main" val="3198500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2ED14-158D-47B9-3F68-3741FED4CAC3}"/>
              </a:ext>
            </a:extLst>
          </p:cNvPr>
          <p:cNvSpPr>
            <a:spLocks noGrp="1"/>
          </p:cNvSpPr>
          <p:nvPr>
            <p:ph type="ctrTitle"/>
          </p:nvPr>
        </p:nvSpPr>
        <p:spPr/>
        <p:txBody>
          <a:bodyPr/>
          <a:lstStyle/>
          <a:p>
            <a:r>
              <a:rPr lang="en-US" dirty="0"/>
              <a:t>EDA Key Findings</a:t>
            </a:r>
          </a:p>
        </p:txBody>
      </p:sp>
      <p:sp>
        <p:nvSpPr>
          <p:cNvPr id="3" name="Subtitle 2">
            <a:extLst>
              <a:ext uri="{FF2B5EF4-FFF2-40B4-BE49-F238E27FC236}">
                <a16:creationId xmlns:a16="http://schemas.microsoft.com/office/drawing/2014/main" id="{00C4FDB4-D70A-619E-7E49-F5B2585155E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83285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7B66C-8E9C-92A4-7E9F-357CB7F2A690}"/>
              </a:ext>
            </a:extLst>
          </p:cNvPr>
          <p:cNvSpPr>
            <a:spLocks noGrp="1"/>
          </p:cNvSpPr>
          <p:nvPr>
            <p:ph type="title"/>
          </p:nvPr>
        </p:nvSpPr>
        <p:spPr/>
        <p:txBody>
          <a:bodyPr>
            <a:normAutofit fontScale="90000"/>
          </a:bodyPr>
          <a:lstStyle/>
          <a:p>
            <a:r>
              <a:rPr lang="en-US" dirty="0"/>
              <a:t>Data Acquisition: The Anthropic HH-RLHF Foundation</a:t>
            </a:r>
          </a:p>
        </p:txBody>
      </p:sp>
      <p:sp>
        <p:nvSpPr>
          <p:cNvPr id="3" name="Content Placeholder 2">
            <a:extLst>
              <a:ext uri="{FF2B5EF4-FFF2-40B4-BE49-F238E27FC236}">
                <a16:creationId xmlns:a16="http://schemas.microsoft.com/office/drawing/2014/main" id="{8AB85981-AF99-8600-A61C-361FD90B43CF}"/>
              </a:ext>
            </a:extLst>
          </p:cNvPr>
          <p:cNvSpPr>
            <a:spLocks noGrp="1"/>
          </p:cNvSpPr>
          <p:nvPr>
            <p:ph idx="1"/>
          </p:nvPr>
        </p:nvSpPr>
        <p:spPr>
          <a:xfrm>
            <a:off x="838200" y="1825625"/>
            <a:ext cx="10515600" cy="3126385"/>
          </a:xfrm>
        </p:spPr>
        <p:txBody>
          <a:bodyPr>
            <a:normAutofit fontScale="92500" lnSpcReduction="20000"/>
          </a:bodyPr>
          <a:lstStyle/>
          <a:p>
            <a:r>
              <a:rPr lang="en-US" sz="2400" b="1" dirty="0"/>
              <a:t>The Source:</a:t>
            </a:r>
            <a:r>
              <a:rPr lang="en-US" sz="2400" dirty="0"/>
              <a:t> </a:t>
            </a:r>
            <a:r>
              <a:rPr lang="en-US" sz="2400" b="1" dirty="0" err="1"/>
              <a:t>Anthropic’s</a:t>
            </a:r>
            <a:r>
              <a:rPr lang="en-US" sz="2400" b="1" dirty="0"/>
              <a:t> Helpful and Harmless (HH-RLHF)</a:t>
            </a:r>
            <a:r>
              <a:rPr lang="en-US" sz="2400" dirty="0"/>
              <a:t> Dataset.</a:t>
            </a:r>
          </a:p>
          <a:p>
            <a:pPr lvl="1"/>
            <a:r>
              <a:rPr lang="en-US" sz="2000" dirty="0">
                <a:hlinkClick r:id="rId3"/>
              </a:rPr>
              <a:t>https://huggingface.co/datasets/Anthropic/hh-rlhf</a:t>
            </a:r>
            <a:endParaRPr lang="en-US" sz="2000" dirty="0"/>
          </a:p>
          <a:p>
            <a:r>
              <a:rPr lang="en-US" sz="2400" b="1" dirty="0"/>
              <a:t>Strategic Selection Rationale:</a:t>
            </a:r>
            <a:endParaRPr lang="en-US" sz="2400" dirty="0"/>
          </a:p>
          <a:p>
            <a:pPr lvl="1"/>
            <a:r>
              <a:rPr lang="en-US" sz="2000" b="1" dirty="0"/>
              <a:t>Gold Standard:</a:t>
            </a:r>
            <a:r>
              <a:rPr lang="en-US" sz="2000" dirty="0"/>
              <a:t> It is the industry benchmark for Alignment Research, containing nuanced human preference pairs (Chosen vs. Rejected).</a:t>
            </a:r>
          </a:p>
          <a:p>
            <a:pPr lvl="1"/>
            <a:r>
              <a:rPr lang="en-US" sz="2000" b="1" dirty="0"/>
              <a:t>High-Fidelity Context:</a:t>
            </a:r>
            <a:r>
              <a:rPr lang="en-US" sz="2000" dirty="0"/>
              <a:t> Provides the complex semantic structure needed to simulate professional RLHF contractor environments.</a:t>
            </a:r>
          </a:p>
          <a:p>
            <a:pPr lvl="1"/>
            <a:r>
              <a:rPr lang="en-US" sz="2000" b="1" dirty="0"/>
              <a:t>Audit Readiness:</a:t>
            </a:r>
            <a:r>
              <a:rPr lang="en-US" sz="2000" dirty="0"/>
              <a:t> The dataset’s "Helpful/Harmless" labels provide a ground truth for testing if an expert is genuinely evaluating quality or just "speed-running" the task.</a:t>
            </a:r>
          </a:p>
          <a:p>
            <a:endParaRPr lang="en-US" sz="2400" dirty="0"/>
          </a:p>
        </p:txBody>
      </p:sp>
      <p:sp>
        <p:nvSpPr>
          <p:cNvPr id="4" name="TextBox 3">
            <a:extLst>
              <a:ext uri="{FF2B5EF4-FFF2-40B4-BE49-F238E27FC236}">
                <a16:creationId xmlns:a16="http://schemas.microsoft.com/office/drawing/2014/main" id="{51B995E2-C74E-46F0-440A-34996FA914F9}"/>
              </a:ext>
            </a:extLst>
          </p:cNvPr>
          <p:cNvSpPr txBox="1"/>
          <p:nvPr/>
        </p:nvSpPr>
        <p:spPr>
          <a:xfrm>
            <a:off x="838199" y="5216701"/>
            <a:ext cx="10515599" cy="677108"/>
          </a:xfrm>
          <a:prstGeom prst="rect">
            <a:avLst/>
          </a:prstGeom>
          <a:noFill/>
        </p:spPr>
        <p:txBody>
          <a:bodyPr wrap="square" rtlCol="0">
            <a:spAutoFit/>
          </a:bodyPr>
          <a:lstStyle/>
          <a:p>
            <a:r>
              <a:rPr lang="en-US" b="1" dirty="0"/>
              <a:t>Data Pipeline:</a:t>
            </a:r>
            <a:r>
              <a:rPr lang="en-US" dirty="0"/>
              <a:t> </a:t>
            </a:r>
            <a:r>
              <a:rPr lang="en-US" i="1" dirty="0"/>
              <a:t>Automated retrieval via Hugging Face datasets library to ensure 100% research reproducibility.</a:t>
            </a:r>
            <a:endParaRPr lang="en-US" dirty="0"/>
          </a:p>
          <a:p>
            <a:endParaRPr lang="en-US" sz="2000" dirty="0"/>
          </a:p>
        </p:txBody>
      </p:sp>
    </p:spTree>
    <p:extLst>
      <p:ext uri="{BB962C8B-B14F-4D97-AF65-F5344CB8AC3E}">
        <p14:creationId xmlns:p14="http://schemas.microsoft.com/office/powerpoint/2010/main" val="2264707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8C2D2-A9A9-DC35-91CD-BDD7EE77284B}"/>
              </a:ext>
            </a:extLst>
          </p:cNvPr>
          <p:cNvSpPr>
            <a:spLocks noGrp="1"/>
          </p:cNvSpPr>
          <p:nvPr>
            <p:ph type="title"/>
          </p:nvPr>
        </p:nvSpPr>
        <p:spPr>
          <a:xfrm>
            <a:off x="838200" y="365125"/>
            <a:ext cx="10515600" cy="869909"/>
          </a:xfrm>
        </p:spPr>
        <p:txBody>
          <a:bodyPr/>
          <a:lstStyle/>
          <a:p>
            <a:r>
              <a:rPr lang="it-IT" dirty="0"/>
              <a:t>Semantic Integrity via Cosine Similarity</a:t>
            </a:r>
            <a:endParaRPr lang="en-US" dirty="0"/>
          </a:p>
        </p:txBody>
      </p:sp>
      <p:sp>
        <p:nvSpPr>
          <p:cNvPr id="3" name="Content Placeholder 2">
            <a:extLst>
              <a:ext uri="{FF2B5EF4-FFF2-40B4-BE49-F238E27FC236}">
                <a16:creationId xmlns:a16="http://schemas.microsoft.com/office/drawing/2014/main" id="{27FEA738-D6EB-1D55-7DB1-5D080F153CD2}"/>
              </a:ext>
            </a:extLst>
          </p:cNvPr>
          <p:cNvSpPr>
            <a:spLocks noGrp="1"/>
          </p:cNvSpPr>
          <p:nvPr>
            <p:ph idx="1"/>
          </p:nvPr>
        </p:nvSpPr>
        <p:spPr>
          <a:xfrm>
            <a:off x="838200" y="1520042"/>
            <a:ext cx="10515600" cy="4656921"/>
          </a:xfrm>
        </p:spPr>
        <p:txBody>
          <a:bodyPr>
            <a:normAutofit/>
          </a:bodyPr>
          <a:lstStyle/>
          <a:p>
            <a:r>
              <a:rPr lang="en-US" dirty="0"/>
              <a:t>Compares the chosen vs. rejected vectors to measure the "Decision Difficulty.“</a:t>
            </a:r>
          </a:p>
          <a:p>
            <a:pPr marL="0" indent="0">
              <a:buNone/>
            </a:pPr>
            <a:endParaRPr lang="en-US" dirty="0"/>
          </a:p>
          <a:p>
            <a:r>
              <a:rPr lang="en-US" dirty="0"/>
              <a:t>Forensic Insight:</a:t>
            </a:r>
          </a:p>
          <a:p>
            <a:pPr lvl="1"/>
            <a:r>
              <a:rPr lang="en-US" b="1" dirty="0"/>
              <a:t>High Similarity Tasks:</a:t>
            </a:r>
            <a:r>
              <a:rPr lang="en-US" dirty="0"/>
              <a:t> These are "Critical Conflict" points. I audit if experts are consistent when the choices are nearly identical.</a:t>
            </a:r>
          </a:p>
          <a:p>
            <a:pPr lvl="1"/>
            <a:r>
              <a:rPr lang="en-US" b="1" dirty="0"/>
              <a:t>The "Switching" Flag:</a:t>
            </a:r>
            <a:r>
              <a:rPr lang="en-US" dirty="0"/>
              <a:t> Inconsistency in these high-similarity tasks identifies </a:t>
            </a:r>
            <a:r>
              <a:rPr lang="en-US" b="1" dirty="0"/>
              <a:t>Low-Reliability Annotators</a:t>
            </a:r>
            <a:r>
              <a:rPr lang="en-US" dirty="0"/>
              <a:t> who likely use guesswork.</a:t>
            </a:r>
          </a:p>
          <a:p>
            <a:pPr lvl="1"/>
            <a:r>
              <a:rPr lang="en-US" b="1" dirty="0"/>
              <a:t>Outcome:</a:t>
            </a:r>
            <a:r>
              <a:rPr lang="en-US" dirty="0"/>
              <a:t> Provides a "Difficulty Metric" that prevents the model from unfairly penalizing experts for honest mistakes on extremely similar data.</a:t>
            </a:r>
            <a:endParaRPr lang="en-US" b="1" dirty="0"/>
          </a:p>
          <a:p>
            <a:endParaRPr lang="en-US" dirty="0"/>
          </a:p>
        </p:txBody>
      </p:sp>
    </p:spTree>
    <p:extLst>
      <p:ext uri="{BB962C8B-B14F-4D97-AF65-F5344CB8AC3E}">
        <p14:creationId xmlns:p14="http://schemas.microsoft.com/office/powerpoint/2010/main" val="1481177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1ED4F-9C32-F753-7D3A-4C1300ACDA8A}"/>
              </a:ext>
            </a:extLst>
          </p:cNvPr>
          <p:cNvSpPr>
            <a:spLocks noGrp="1"/>
          </p:cNvSpPr>
          <p:nvPr>
            <p:ph type="title"/>
          </p:nvPr>
        </p:nvSpPr>
        <p:spPr>
          <a:xfrm>
            <a:off x="838200" y="77314"/>
            <a:ext cx="10515600" cy="1325563"/>
          </a:xfrm>
        </p:spPr>
        <p:txBody>
          <a:bodyPr/>
          <a:lstStyle/>
          <a:p>
            <a:r>
              <a:rPr lang="en-US" dirty="0"/>
              <a:t>Exploratory Data Analysis (EDA)</a:t>
            </a:r>
            <a:br>
              <a:rPr lang="en-US" dirty="0"/>
            </a:br>
            <a:r>
              <a:rPr lang="en-US" sz="2400" dirty="0"/>
              <a:t>Visualizing the "Logic Trap" &amp; Integrity Gaps</a:t>
            </a:r>
            <a:endParaRPr lang="en-US" dirty="0"/>
          </a:p>
        </p:txBody>
      </p:sp>
      <p:sp>
        <p:nvSpPr>
          <p:cNvPr id="3" name="Content Placeholder 2">
            <a:extLst>
              <a:ext uri="{FF2B5EF4-FFF2-40B4-BE49-F238E27FC236}">
                <a16:creationId xmlns:a16="http://schemas.microsoft.com/office/drawing/2014/main" id="{991CC8F0-F6B4-7B1B-1AB3-A8200FFB9BD8}"/>
              </a:ext>
            </a:extLst>
          </p:cNvPr>
          <p:cNvSpPr>
            <a:spLocks noGrp="1"/>
          </p:cNvSpPr>
          <p:nvPr>
            <p:ph idx="1"/>
          </p:nvPr>
        </p:nvSpPr>
        <p:spPr>
          <a:xfrm>
            <a:off x="838200" y="1543793"/>
            <a:ext cx="4731327" cy="4351338"/>
          </a:xfrm>
        </p:spPr>
        <p:txBody>
          <a:bodyPr>
            <a:normAutofit fontScale="85000" lnSpcReduction="20000"/>
          </a:bodyPr>
          <a:lstStyle/>
          <a:p>
            <a:r>
              <a:rPr lang="en-US" sz="2000" b="1" dirty="0"/>
              <a:t>The Objective:</a:t>
            </a:r>
            <a:r>
              <a:rPr lang="en-US" sz="2000" dirty="0"/>
              <a:t> To identify </a:t>
            </a:r>
            <a:r>
              <a:rPr lang="en-US" sz="2000"/>
              <a:t>patterns between </a:t>
            </a:r>
            <a:r>
              <a:rPr lang="en-US" sz="2000" b="1" dirty="0"/>
              <a:t>Semantic Similarity</a:t>
            </a:r>
            <a:r>
              <a:rPr lang="en-US" sz="2000" dirty="0"/>
              <a:t> (Quality) and </a:t>
            </a:r>
            <a:r>
              <a:rPr lang="en-US" sz="2000" b="1" dirty="0"/>
              <a:t>Length Ratio</a:t>
            </a:r>
            <a:r>
              <a:rPr lang="en-US" sz="2000" dirty="0"/>
              <a:t> (Effort) within the raw dataset.</a:t>
            </a:r>
          </a:p>
          <a:p>
            <a:r>
              <a:rPr lang="en-US" sz="2000" b="1" dirty="0"/>
              <a:t>The Logic Trap (x &gt; 0.98)</a:t>
            </a:r>
            <a:r>
              <a:rPr lang="en-US" sz="2000" dirty="0"/>
              <a:t>: A distinct cluster of "High Similarity" tasks was identified, exceeding the typical semantic range of human variation. This serves as a strong indicator of "Over-alignment"—where an expert may have manipulated or mirrored the reference text to fabricate a "perfect" response, effectively masking a lack of genuine task evaluation.</a:t>
            </a:r>
          </a:p>
          <a:p>
            <a:r>
              <a:rPr lang="en-US" sz="2000" b="1" dirty="0"/>
              <a:t>Strategic Outcome:</a:t>
            </a:r>
            <a:r>
              <a:rPr lang="en-US" sz="2000" dirty="0"/>
              <a:t> This visualization justifies the need for </a:t>
            </a:r>
            <a:r>
              <a:rPr lang="en-US" sz="2000" b="1" dirty="0"/>
              <a:t>Clustering</a:t>
            </a:r>
            <a:r>
              <a:rPr lang="en-US" sz="2000" dirty="0"/>
              <a:t> and </a:t>
            </a:r>
            <a:r>
              <a:rPr lang="en-US" sz="2000" b="1" dirty="0"/>
              <a:t>PCA</a:t>
            </a:r>
            <a:r>
              <a:rPr lang="en-US" sz="2000" dirty="0"/>
              <a:t>, as it proves that raw features alone cannot perfectly separate "Honest Experts" from "Bad Actors" without higher-dimensional analysis.</a:t>
            </a:r>
          </a:p>
        </p:txBody>
      </p:sp>
      <p:pic>
        <p:nvPicPr>
          <p:cNvPr id="6" name="Picture 5">
            <a:extLst>
              <a:ext uri="{FF2B5EF4-FFF2-40B4-BE49-F238E27FC236}">
                <a16:creationId xmlns:a16="http://schemas.microsoft.com/office/drawing/2014/main" id="{3992CC4A-375E-F3DC-502B-1ED856439A6F}"/>
              </a:ext>
            </a:extLst>
          </p:cNvPr>
          <p:cNvPicPr>
            <a:picLocks noChangeAspect="1"/>
          </p:cNvPicPr>
          <p:nvPr/>
        </p:nvPicPr>
        <p:blipFill>
          <a:blip r:embed="rId3"/>
          <a:stretch>
            <a:fillRect/>
          </a:stretch>
        </p:blipFill>
        <p:spPr>
          <a:xfrm>
            <a:off x="5569527" y="1402877"/>
            <a:ext cx="5998136" cy="5082638"/>
          </a:xfrm>
          <a:prstGeom prst="rect">
            <a:avLst/>
          </a:prstGeom>
        </p:spPr>
      </p:pic>
    </p:spTree>
    <p:extLst>
      <p:ext uri="{BB962C8B-B14F-4D97-AF65-F5344CB8AC3E}">
        <p14:creationId xmlns:p14="http://schemas.microsoft.com/office/powerpoint/2010/main" val="3517853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273DF-0A51-AA4C-122D-6D2AC9D30A10}"/>
              </a:ext>
            </a:extLst>
          </p:cNvPr>
          <p:cNvSpPr>
            <a:spLocks noGrp="1"/>
          </p:cNvSpPr>
          <p:nvPr>
            <p:ph type="ctrTitle"/>
          </p:nvPr>
        </p:nvSpPr>
        <p:spPr/>
        <p:txBody>
          <a:bodyPr/>
          <a:lstStyle/>
          <a:p>
            <a:r>
              <a:rPr lang="en-US" dirty="0"/>
              <a:t>Feature Engineering Approach</a:t>
            </a:r>
          </a:p>
        </p:txBody>
      </p:sp>
      <p:sp>
        <p:nvSpPr>
          <p:cNvPr id="3" name="Subtitle 2">
            <a:extLst>
              <a:ext uri="{FF2B5EF4-FFF2-40B4-BE49-F238E27FC236}">
                <a16:creationId xmlns:a16="http://schemas.microsoft.com/office/drawing/2014/main" id="{239E5178-FEB0-7BA6-46BC-C2349B280B9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04291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74776-FB7A-DBF2-11FD-93DFA25FE811}"/>
              </a:ext>
            </a:extLst>
          </p:cNvPr>
          <p:cNvSpPr>
            <a:spLocks noGrp="1"/>
          </p:cNvSpPr>
          <p:nvPr>
            <p:ph type="title"/>
          </p:nvPr>
        </p:nvSpPr>
        <p:spPr/>
        <p:txBody>
          <a:bodyPr>
            <a:normAutofit fontScale="90000"/>
          </a:bodyPr>
          <a:lstStyle/>
          <a:p>
            <a:r>
              <a:rPr lang="en-US" dirty="0"/>
              <a:t>Behavioral Simulation: Engineering the Forensic Environment</a:t>
            </a:r>
          </a:p>
        </p:txBody>
      </p:sp>
      <p:sp>
        <p:nvSpPr>
          <p:cNvPr id="3" name="Content Placeholder 2">
            <a:extLst>
              <a:ext uri="{FF2B5EF4-FFF2-40B4-BE49-F238E27FC236}">
                <a16:creationId xmlns:a16="http://schemas.microsoft.com/office/drawing/2014/main" id="{7D94A928-2264-3257-4B7A-E70EA708F896}"/>
              </a:ext>
            </a:extLst>
          </p:cNvPr>
          <p:cNvSpPr>
            <a:spLocks noGrp="1"/>
          </p:cNvSpPr>
          <p:nvPr>
            <p:ph idx="1"/>
          </p:nvPr>
        </p:nvSpPr>
        <p:spPr/>
        <p:txBody>
          <a:bodyPr/>
          <a:lstStyle/>
          <a:p>
            <a:r>
              <a:rPr lang="en-US" b="1" dirty="0"/>
              <a:t>The Innovation: Forensic Metadata Injection.</a:t>
            </a:r>
            <a:endParaRPr lang="en-US" dirty="0"/>
          </a:p>
          <a:p>
            <a:pPr lvl="1"/>
            <a:r>
              <a:rPr lang="en-US" dirty="0"/>
              <a:t>Since the original dataset is "clean," I simulated fraud by injecting </a:t>
            </a:r>
            <a:r>
              <a:rPr lang="en-US" b="1" dirty="0"/>
              <a:t>Time-on-Task</a:t>
            </a:r>
            <a:r>
              <a:rPr lang="en-US" dirty="0"/>
              <a:t> and </a:t>
            </a:r>
            <a:r>
              <a:rPr lang="en-US" b="1" dirty="0"/>
              <a:t>Expert IDs</a:t>
            </a:r>
            <a:r>
              <a:rPr lang="en-US" dirty="0"/>
              <a:t> into the metadata.</a:t>
            </a:r>
          </a:p>
          <a:p>
            <a:r>
              <a:rPr lang="en-US" b="1" dirty="0"/>
              <a:t>The Anti-Overfitting Measure: Randomized Justification.</a:t>
            </a:r>
            <a:endParaRPr lang="en-US" dirty="0"/>
          </a:p>
          <a:p>
            <a:pPr lvl="1"/>
            <a:r>
              <a:rPr lang="en-US" b="1" dirty="0"/>
              <a:t>Constraint:</a:t>
            </a:r>
            <a:r>
              <a:rPr lang="en-US" dirty="0"/>
              <a:t> Injected randomized forensic justifications instead of predictable keywords.</a:t>
            </a:r>
          </a:p>
          <a:p>
            <a:pPr lvl="1"/>
            <a:r>
              <a:rPr lang="en-US" b="1" dirty="0"/>
              <a:t>Goal:</a:t>
            </a:r>
            <a:r>
              <a:rPr lang="en-US" dirty="0"/>
              <a:t> Forces the model to ignore "textual clues" (Memorization) and focus on </a:t>
            </a:r>
            <a:r>
              <a:rPr lang="en-US" b="1" dirty="0"/>
              <a:t>Isotropic Variance</a:t>
            </a:r>
            <a:r>
              <a:rPr lang="en-US" dirty="0"/>
              <a:t> (Mathematical behavior in time vs. similarity).</a:t>
            </a:r>
          </a:p>
          <a:p>
            <a:r>
              <a:rPr lang="en-US" b="1" dirty="0"/>
              <a:t>Outcome:</a:t>
            </a:r>
            <a:r>
              <a:rPr lang="en-US" dirty="0"/>
              <a:t> A robust model that generalizes across different domains because it detects </a:t>
            </a:r>
            <a:r>
              <a:rPr lang="en-US" i="1" dirty="0"/>
              <a:t>patterns of behavior</a:t>
            </a:r>
            <a:r>
              <a:rPr lang="en-US" dirty="0"/>
              <a:t>, not just </a:t>
            </a:r>
            <a:r>
              <a:rPr lang="en-US" i="1" dirty="0"/>
              <a:t>keywords of fraud</a:t>
            </a:r>
            <a:r>
              <a:rPr lang="en-US" dirty="0"/>
              <a:t>.</a:t>
            </a:r>
          </a:p>
          <a:p>
            <a:endParaRPr lang="en-US" dirty="0"/>
          </a:p>
        </p:txBody>
      </p:sp>
    </p:spTree>
    <p:extLst>
      <p:ext uri="{BB962C8B-B14F-4D97-AF65-F5344CB8AC3E}">
        <p14:creationId xmlns:p14="http://schemas.microsoft.com/office/powerpoint/2010/main" val="1623453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1089F-CDCF-B52B-9B13-F543BC53F75B}"/>
              </a:ext>
            </a:extLst>
          </p:cNvPr>
          <p:cNvSpPr>
            <a:spLocks noGrp="1"/>
          </p:cNvSpPr>
          <p:nvPr>
            <p:ph type="title"/>
          </p:nvPr>
        </p:nvSpPr>
        <p:spPr>
          <a:xfrm>
            <a:off x="838200" y="365125"/>
            <a:ext cx="10515600" cy="893659"/>
          </a:xfrm>
        </p:spPr>
        <p:txBody>
          <a:bodyPr>
            <a:normAutofit fontScale="90000"/>
          </a:bodyPr>
          <a:lstStyle/>
          <a:p>
            <a:r>
              <a:rPr lang="en-US" sz="4000" dirty="0"/>
              <a:t>Feature Correlation: Validating the Forensic Signal</a:t>
            </a:r>
          </a:p>
        </p:txBody>
      </p:sp>
      <p:sp>
        <p:nvSpPr>
          <p:cNvPr id="3" name="Content Placeholder 2">
            <a:extLst>
              <a:ext uri="{FF2B5EF4-FFF2-40B4-BE49-F238E27FC236}">
                <a16:creationId xmlns:a16="http://schemas.microsoft.com/office/drawing/2014/main" id="{4BCCF627-4449-9F2B-6001-D9F85E92C278}"/>
              </a:ext>
            </a:extLst>
          </p:cNvPr>
          <p:cNvSpPr>
            <a:spLocks noGrp="1"/>
          </p:cNvSpPr>
          <p:nvPr>
            <p:ph idx="1"/>
          </p:nvPr>
        </p:nvSpPr>
        <p:spPr>
          <a:xfrm>
            <a:off x="5083621" y="1181594"/>
            <a:ext cx="6222671" cy="5172602"/>
          </a:xfrm>
        </p:spPr>
        <p:txBody>
          <a:bodyPr>
            <a:noAutofit/>
          </a:bodyPr>
          <a:lstStyle/>
          <a:p>
            <a:r>
              <a:rPr lang="en-US" sz="2400" dirty="0"/>
              <a:t>Statistical Signal Strength: A moderate positive correlation (</a:t>
            </a:r>
            <a:r>
              <a:rPr lang="en-US" sz="2400" i="1" dirty="0"/>
              <a:t>r≈0.38 – 0.41</a:t>
            </a:r>
            <a:r>
              <a:rPr lang="en-US" sz="2400" dirty="0"/>
              <a:t>) </a:t>
            </a:r>
            <a:r>
              <a:rPr lang="en-US" sz="2400"/>
              <a:t>exists between </a:t>
            </a:r>
            <a:r>
              <a:rPr lang="en-US" sz="2400" dirty="0" err="1"/>
              <a:t>is_anomaly</a:t>
            </a:r>
            <a:r>
              <a:rPr lang="en-US" sz="2400" dirty="0"/>
              <a:t>, </a:t>
            </a:r>
            <a:r>
              <a:rPr lang="en-US" sz="2400" dirty="0" err="1"/>
              <a:t>similarity_score</a:t>
            </a:r>
            <a:r>
              <a:rPr lang="en-US" sz="2400" dirty="0"/>
              <a:t>, and </a:t>
            </a:r>
            <a:r>
              <a:rPr lang="en-US" sz="2400" dirty="0" err="1"/>
              <a:t>time_seconds</a:t>
            </a:r>
            <a:r>
              <a:rPr lang="en-US" sz="2400" dirty="0"/>
              <a:t>. This confirms that extreme deviations in these metrics are primary predictors of fraudulent behavior.</a:t>
            </a:r>
          </a:p>
          <a:p>
            <a:r>
              <a:rPr lang="en-US" sz="2400" dirty="0"/>
              <a:t>Negligible correlation (</a:t>
            </a:r>
            <a:r>
              <a:rPr lang="en-US" sz="2400" i="1" dirty="0"/>
              <a:t>r≈0.04</a:t>
            </a:r>
            <a:r>
              <a:rPr lang="en-US" sz="2400"/>
              <a:t>) between </a:t>
            </a:r>
            <a:r>
              <a:rPr lang="en-US" sz="2400" dirty="0" err="1"/>
              <a:t>len_ratio</a:t>
            </a:r>
            <a:r>
              <a:rPr lang="en-US" sz="2400" dirty="0"/>
              <a:t> and </a:t>
            </a:r>
            <a:r>
              <a:rPr lang="en-US" sz="2400" dirty="0" err="1"/>
              <a:t>is_anomaly</a:t>
            </a:r>
            <a:r>
              <a:rPr lang="en-US" sz="2400" dirty="0"/>
              <a:t> proves that text length alone is an insufficient indicator of fraud without temporal and semantic context.</a:t>
            </a:r>
          </a:p>
          <a:p>
            <a:r>
              <a:rPr lang="en-US" sz="2400" dirty="0"/>
              <a:t>No inter-feature correlation exceeds </a:t>
            </a:r>
            <a:r>
              <a:rPr lang="en-US" sz="2400" i="1" dirty="0"/>
              <a:t>r&gt;0.80</a:t>
            </a:r>
            <a:r>
              <a:rPr lang="en-US" sz="2400" dirty="0"/>
              <a:t>. This ensures each metric provides a unique behavioral signal, maintaining Isotropic Variance and preventing model redundancy.</a:t>
            </a:r>
          </a:p>
        </p:txBody>
      </p:sp>
      <p:pic>
        <p:nvPicPr>
          <p:cNvPr id="5" name="Picture 4">
            <a:extLst>
              <a:ext uri="{FF2B5EF4-FFF2-40B4-BE49-F238E27FC236}">
                <a16:creationId xmlns:a16="http://schemas.microsoft.com/office/drawing/2014/main" id="{AC2E0801-0A49-C000-C7C5-66FD4A60D9F9}"/>
              </a:ext>
            </a:extLst>
          </p:cNvPr>
          <p:cNvPicPr>
            <a:picLocks noChangeAspect="1"/>
          </p:cNvPicPr>
          <p:nvPr/>
        </p:nvPicPr>
        <p:blipFill>
          <a:blip r:embed="rId3"/>
          <a:stretch>
            <a:fillRect/>
          </a:stretch>
        </p:blipFill>
        <p:spPr>
          <a:xfrm>
            <a:off x="838200" y="1128155"/>
            <a:ext cx="4197913" cy="5279480"/>
          </a:xfrm>
          <a:prstGeom prst="rect">
            <a:avLst/>
          </a:prstGeom>
        </p:spPr>
      </p:pic>
    </p:spTree>
    <p:extLst>
      <p:ext uri="{BB962C8B-B14F-4D97-AF65-F5344CB8AC3E}">
        <p14:creationId xmlns:p14="http://schemas.microsoft.com/office/powerpoint/2010/main" val="1327827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C9C70-D89A-569C-5EEF-82C06F6E2B7C}"/>
              </a:ext>
            </a:extLst>
          </p:cNvPr>
          <p:cNvSpPr>
            <a:spLocks noGrp="1"/>
          </p:cNvSpPr>
          <p:nvPr>
            <p:ph type="ctrTitle"/>
          </p:nvPr>
        </p:nvSpPr>
        <p:spPr/>
        <p:txBody>
          <a:bodyPr/>
          <a:lstStyle/>
          <a:p>
            <a:r>
              <a:rPr lang="en-US" dirty="0"/>
              <a:t>Unsupervised Learning</a:t>
            </a:r>
          </a:p>
        </p:txBody>
      </p:sp>
      <p:sp>
        <p:nvSpPr>
          <p:cNvPr id="3" name="Subtitle 2">
            <a:extLst>
              <a:ext uri="{FF2B5EF4-FFF2-40B4-BE49-F238E27FC236}">
                <a16:creationId xmlns:a16="http://schemas.microsoft.com/office/drawing/2014/main" id="{D13E75B6-273E-3C10-6FD4-C64AEC1ECBE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07242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EBFE8-5AB9-67F8-5209-7A0C1F5BE163}"/>
              </a:ext>
            </a:extLst>
          </p:cNvPr>
          <p:cNvSpPr>
            <a:spLocks noGrp="1"/>
          </p:cNvSpPr>
          <p:nvPr>
            <p:ph type="title"/>
          </p:nvPr>
        </p:nvSpPr>
        <p:spPr>
          <a:xfrm>
            <a:off x="838200" y="365125"/>
            <a:ext cx="10515600" cy="858033"/>
          </a:xfrm>
        </p:spPr>
        <p:txBody>
          <a:bodyPr>
            <a:normAutofit fontScale="90000"/>
          </a:bodyPr>
          <a:lstStyle/>
          <a:p>
            <a:r>
              <a:rPr lang="en-US" sz="4000" dirty="0"/>
              <a:t> Dimensionality Reduction &amp; Variance Retention</a:t>
            </a:r>
          </a:p>
        </p:txBody>
      </p:sp>
      <p:sp>
        <p:nvSpPr>
          <p:cNvPr id="3" name="Content Placeholder 2">
            <a:extLst>
              <a:ext uri="{FF2B5EF4-FFF2-40B4-BE49-F238E27FC236}">
                <a16:creationId xmlns:a16="http://schemas.microsoft.com/office/drawing/2014/main" id="{3C72321A-7D22-05AA-3120-88B29C03B8FD}"/>
              </a:ext>
            </a:extLst>
          </p:cNvPr>
          <p:cNvSpPr>
            <a:spLocks noGrp="1"/>
          </p:cNvSpPr>
          <p:nvPr>
            <p:ph idx="1"/>
          </p:nvPr>
        </p:nvSpPr>
        <p:spPr>
          <a:xfrm>
            <a:off x="7126982" y="1223158"/>
            <a:ext cx="4542504" cy="5269717"/>
          </a:xfrm>
        </p:spPr>
        <p:txBody>
          <a:bodyPr>
            <a:normAutofit/>
          </a:bodyPr>
          <a:lstStyle/>
          <a:p>
            <a:pPr fontAlgn="base"/>
            <a:r>
              <a:rPr lang="en-US" dirty="0"/>
              <a:t>I reduced our multi-dimensional features into a 2D space using </a:t>
            </a:r>
            <a:r>
              <a:rPr lang="en-US" b="1" dirty="0"/>
              <a:t>‘</a:t>
            </a:r>
            <a:r>
              <a:rPr lang="en-US" b="1" dirty="0" err="1"/>
              <a:t>forensic_flag</a:t>
            </a:r>
            <a:r>
              <a:rPr lang="en-US" b="1" dirty="0"/>
              <a:t>.’</a:t>
            </a:r>
          </a:p>
          <a:p>
            <a:pPr fontAlgn="base"/>
            <a:r>
              <a:rPr lang="en-US" dirty="0"/>
              <a:t>The plot shows distinct "behavioral clouds." While there is some realistic overlap (Chaos Injection), the separation of the </a:t>
            </a:r>
            <a:r>
              <a:rPr lang="en-US" b="1" dirty="0"/>
              <a:t>Time Padding</a:t>
            </a:r>
            <a:r>
              <a:rPr lang="en-US" dirty="0"/>
              <a:t> (green) and </a:t>
            </a:r>
            <a:r>
              <a:rPr lang="en-US" b="1" dirty="0"/>
              <a:t>Clean</a:t>
            </a:r>
            <a:r>
              <a:rPr lang="en-US" dirty="0"/>
              <a:t> (blue) groups proves that our AI Auditor can differentiate between legitimate high-effort work and fraudulent billing.</a:t>
            </a:r>
            <a:endParaRPr lang="en-US" sz="2400" dirty="0"/>
          </a:p>
        </p:txBody>
      </p:sp>
      <p:pic>
        <p:nvPicPr>
          <p:cNvPr id="9" name="Picture 8">
            <a:extLst>
              <a:ext uri="{FF2B5EF4-FFF2-40B4-BE49-F238E27FC236}">
                <a16:creationId xmlns:a16="http://schemas.microsoft.com/office/drawing/2014/main" id="{245B1D6D-B131-40FC-0CF0-686342EF2538}"/>
              </a:ext>
            </a:extLst>
          </p:cNvPr>
          <p:cNvPicPr>
            <a:picLocks noChangeAspect="1"/>
          </p:cNvPicPr>
          <p:nvPr/>
        </p:nvPicPr>
        <p:blipFill>
          <a:blip r:embed="rId3"/>
          <a:stretch>
            <a:fillRect/>
          </a:stretch>
        </p:blipFill>
        <p:spPr>
          <a:xfrm>
            <a:off x="992025" y="1116281"/>
            <a:ext cx="6134956" cy="5525271"/>
          </a:xfrm>
          <a:prstGeom prst="rect">
            <a:avLst/>
          </a:prstGeom>
        </p:spPr>
      </p:pic>
    </p:spTree>
    <p:extLst>
      <p:ext uri="{BB962C8B-B14F-4D97-AF65-F5344CB8AC3E}">
        <p14:creationId xmlns:p14="http://schemas.microsoft.com/office/powerpoint/2010/main" val="214306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26B26-6382-5EB6-5C8E-B4B1715CBB78}"/>
              </a:ext>
            </a:extLst>
          </p:cNvPr>
          <p:cNvSpPr>
            <a:spLocks noGrp="1"/>
          </p:cNvSpPr>
          <p:nvPr>
            <p:ph type="title"/>
          </p:nvPr>
        </p:nvSpPr>
        <p:spPr>
          <a:xfrm>
            <a:off x="838200" y="0"/>
            <a:ext cx="5491348" cy="1325563"/>
          </a:xfrm>
        </p:spPr>
        <p:txBody>
          <a:bodyPr/>
          <a:lstStyle/>
          <a:p>
            <a:r>
              <a:rPr lang="en-US" dirty="0"/>
              <a:t>The Elbow Method</a:t>
            </a:r>
          </a:p>
        </p:txBody>
      </p:sp>
      <p:sp>
        <p:nvSpPr>
          <p:cNvPr id="3" name="Content Placeholder 2">
            <a:extLst>
              <a:ext uri="{FF2B5EF4-FFF2-40B4-BE49-F238E27FC236}">
                <a16:creationId xmlns:a16="http://schemas.microsoft.com/office/drawing/2014/main" id="{0BDBDA50-2D5C-2753-AB1E-761E90D20A82}"/>
              </a:ext>
            </a:extLst>
          </p:cNvPr>
          <p:cNvSpPr>
            <a:spLocks noGrp="1"/>
          </p:cNvSpPr>
          <p:nvPr>
            <p:ph idx="1"/>
          </p:nvPr>
        </p:nvSpPr>
        <p:spPr>
          <a:xfrm>
            <a:off x="897316" y="1325563"/>
            <a:ext cx="5257800" cy="5435971"/>
          </a:xfrm>
        </p:spPr>
        <p:txBody>
          <a:bodyPr>
            <a:normAutofit/>
          </a:bodyPr>
          <a:lstStyle/>
          <a:p>
            <a:r>
              <a:rPr lang="en-US" dirty="0"/>
              <a:t>Utilized the Elbow Method to determine the optimal number of clusters (</a:t>
            </a:r>
            <a:r>
              <a:rPr lang="en-US" i="1" dirty="0"/>
              <a:t>K</a:t>
            </a:r>
            <a:r>
              <a:rPr lang="en-US" dirty="0"/>
              <a:t>) for our expert workforce.</a:t>
            </a:r>
          </a:p>
          <a:p>
            <a:r>
              <a:rPr lang="en-US" dirty="0"/>
              <a:t>Finding </a:t>
            </a:r>
            <a:r>
              <a:rPr lang="en-US" b="1" dirty="0"/>
              <a:t>K=4</a:t>
            </a:r>
            <a:r>
              <a:rPr lang="en-US" dirty="0"/>
              <a:t>. The "bend" or elbow in the plot confirms that 4 clusters provide the most stable representation of the data without over-fitting.</a:t>
            </a:r>
          </a:p>
          <a:p>
            <a:r>
              <a:rPr lang="en-US" dirty="0"/>
              <a:t>This aligns perfectly with our four forensic categories: </a:t>
            </a:r>
            <a:r>
              <a:rPr lang="en-US" i="1" dirty="0"/>
              <a:t>CLEAN, SPEED_RUNNING, TIME_PADDING, and LOGICAL_FALLACY.</a:t>
            </a:r>
          </a:p>
        </p:txBody>
      </p:sp>
      <p:pic>
        <p:nvPicPr>
          <p:cNvPr id="5" name="Picture 4">
            <a:extLst>
              <a:ext uri="{FF2B5EF4-FFF2-40B4-BE49-F238E27FC236}">
                <a16:creationId xmlns:a16="http://schemas.microsoft.com/office/drawing/2014/main" id="{001437FC-CBFA-2E14-38A5-2EF797CD9FF5}"/>
              </a:ext>
            </a:extLst>
          </p:cNvPr>
          <p:cNvPicPr>
            <a:picLocks noChangeAspect="1"/>
          </p:cNvPicPr>
          <p:nvPr/>
        </p:nvPicPr>
        <p:blipFill>
          <a:blip r:embed="rId3"/>
          <a:stretch>
            <a:fillRect/>
          </a:stretch>
        </p:blipFill>
        <p:spPr>
          <a:xfrm>
            <a:off x="6555166" y="0"/>
            <a:ext cx="5636834" cy="6858000"/>
          </a:xfrm>
          <a:prstGeom prst="rect">
            <a:avLst/>
          </a:prstGeom>
        </p:spPr>
      </p:pic>
      <p:sp>
        <p:nvSpPr>
          <p:cNvPr id="7" name="Oval 6">
            <a:extLst>
              <a:ext uri="{FF2B5EF4-FFF2-40B4-BE49-F238E27FC236}">
                <a16:creationId xmlns:a16="http://schemas.microsoft.com/office/drawing/2014/main" id="{7141E4C0-E8D5-B7E2-F38A-9A3CAA383A53}"/>
              </a:ext>
            </a:extLst>
          </p:cNvPr>
          <p:cNvSpPr/>
          <p:nvPr/>
        </p:nvSpPr>
        <p:spPr>
          <a:xfrm>
            <a:off x="8934020" y="5486400"/>
            <a:ext cx="229030" cy="254000"/>
          </a:xfrm>
          <a:prstGeom prst="ellipse">
            <a:avLst/>
          </a:prstGeom>
          <a:noFill/>
          <a:ln w="25400" cap="flat" cmpd="sng" algn="ctr">
            <a:solidFill>
              <a:srgbClr val="FF0000">
                <a:alpha val="96000"/>
              </a:srgb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dirty="0"/>
          </a:p>
        </p:txBody>
      </p:sp>
    </p:spTree>
    <p:extLst>
      <p:ext uri="{BB962C8B-B14F-4D97-AF65-F5344CB8AC3E}">
        <p14:creationId xmlns:p14="http://schemas.microsoft.com/office/powerpoint/2010/main" val="1780822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8788B-BF36-9F1B-5A08-D9E1A19459F5}"/>
              </a:ext>
            </a:extLst>
          </p:cNvPr>
          <p:cNvSpPr>
            <a:spLocks noGrp="1"/>
          </p:cNvSpPr>
          <p:nvPr>
            <p:ph type="title"/>
          </p:nvPr>
        </p:nvSpPr>
        <p:spPr>
          <a:xfrm>
            <a:off x="838200" y="103868"/>
            <a:ext cx="5867400" cy="1325563"/>
          </a:xfrm>
        </p:spPr>
        <p:txBody>
          <a:bodyPr/>
          <a:lstStyle/>
          <a:p>
            <a:r>
              <a:rPr lang="en-US" dirty="0"/>
              <a:t>K-Means Clustering</a:t>
            </a:r>
          </a:p>
        </p:txBody>
      </p:sp>
      <p:sp>
        <p:nvSpPr>
          <p:cNvPr id="3" name="Content Placeholder 2">
            <a:extLst>
              <a:ext uri="{FF2B5EF4-FFF2-40B4-BE49-F238E27FC236}">
                <a16:creationId xmlns:a16="http://schemas.microsoft.com/office/drawing/2014/main" id="{4E0F78EA-B08F-FD35-9FB3-2ED937EEB415}"/>
              </a:ext>
            </a:extLst>
          </p:cNvPr>
          <p:cNvSpPr>
            <a:spLocks noGrp="1"/>
          </p:cNvSpPr>
          <p:nvPr>
            <p:ph idx="1"/>
          </p:nvPr>
        </p:nvSpPr>
        <p:spPr>
          <a:xfrm>
            <a:off x="838200" y="1429431"/>
            <a:ext cx="5765800" cy="5063444"/>
          </a:xfrm>
        </p:spPr>
        <p:txBody>
          <a:bodyPr/>
          <a:lstStyle/>
          <a:p>
            <a:r>
              <a:rPr lang="en-US" dirty="0"/>
              <a:t>Applied </a:t>
            </a:r>
            <a:r>
              <a:rPr lang="en-US" b="1" dirty="0"/>
              <a:t>K-Means Clustering</a:t>
            </a:r>
            <a:r>
              <a:rPr lang="en-US" dirty="0"/>
              <a:t> on standardized features (</a:t>
            </a:r>
            <a:r>
              <a:rPr lang="en-US" dirty="0" err="1"/>
              <a:t>similarity_score</a:t>
            </a:r>
            <a:r>
              <a:rPr lang="en-US" dirty="0"/>
              <a:t>, </a:t>
            </a:r>
            <a:r>
              <a:rPr lang="en-US" dirty="0" err="1"/>
              <a:t>time_seconds</a:t>
            </a:r>
            <a:r>
              <a:rPr lang="en-US" dirty="0"/>
              <a:t>, </a:t>
            </a:r>
            <a:r>
              <a:rPr lang="en-US" dirty="0" err="1"/>
              <a:t>len_ratio</a:t>
            </a:r>
            <a:r>
              <a:rPr lang="en-US" dirty="0"/>
              <a:t>).</a:t>
            </a:r>
          </a:p>
          <a:p>
            <a:r>
              <a:rPr lang="en-US" dirty="0"/>
              <a:t>Determined </a:t>
            </a:r>
            <a:r>
              <a:rPr lang="en-US" b="1" i="1" dirty="0"/>
              <a:t>K=4</a:t>
            </a:r>
            <a:r>
              <a:rPr lang="en-US" dirty="0"/>
              <a:t> as the optimal cluster count, validated by the Elbow Method where inertia stabilization occurs.</a:t>
            </a:r>
          </a:p>
          <a:p>
            <a:r>
              <a:rPr lang="en-US" dirty="0"/>
              <a:t>This unsupervised mapping serves as the foundation for our </a:t>
            </a:r>
            <a:r>
              <a:rPr lang="en-US" b="1" dirty="0"/>
              <a:t>Automated Forensic Flags</a:t>
            </a:r>
            <a:r>
              <a:rPr lang="en-US" dirty="0"/>
              <a:t>.</a:t>
            </a:r>
          </a:p>
        </p:txBody>
      </p:sp>
      <p:pic>
        <p:nvPicPr>
          <p:cNvPr id="9" name="Picture 8">
            <a:extLst>
              <a:ext uri="{FF2B5EF4-FFF2-40B4-BE49-F238E27FC236}">
                <a16:creationId xmlns:a16="http://schemas.microsoft.com/office/drawing/2014/main" id="{567A8899-C961-DD89-6B3C-9BD2E8C11502}"/>
              </a:ext>
            </a:extLst>
          </p:cNvPr>
          <p:cNvPicPr>
            <a:picLocks noChangeAspect="1"/>
          </p:cNvPicPr>
          <p:nvPr/>
        </p:nvPicPr>
        <p:blipFill>
          <a:blip r:embed="rId2"/>
          <a:stretch>
            <a:fillRect/>
          </a:stretch>
        </p:blipFill>
        <p:spPr>
          <a:xfrm>
            <a:off x="6907388" y="103868"/>
            <a:ext cx="4467849" cy="2257740"/>
          </a:xfrm>
          <a:prstGeom prst="rect">
            <a:avLst/>
          </a:prstGeom>
        </p:spPr>
      </p:pic>
      <p:pic>
        <p:nvPicPr>
          <p:cNvPr id="11" name="Picture 10">
            <a:extLst>
              <a:ext uri="{FF2B5EF4-FFF2-40B4-BE49-F238E27FC236}">
                <a16:creationId xmlns:a16="http://schemas.microsoft.com/office/drawing/2014/main" id="{AC57F8A6-77A6-90A5-D64E-DE783A21912B}"/>
              </a:ext>
            </a:extLst>
          </p:cNvPr>
          <p:cNvPicPr>
            <a:picLocks noChangeAspect="1"/>
          </p:cNvPicPr>
          <p:nvPr/>
        </p:nvPicPr>
        <p:blipFill>
          <a:blip r:embed="rId3"/>
          <a:stretch>
            <a:fillRect/>
          </a:stretch>
        </p:blipFill>
        <p:spPr>
          <a:xfrm>
            <a:off x="6907388" y="2361608"/>
            <a:ext cx="5058106" cy="4392524"/>
          </a:xfrm>
          <a:prstGeom prst="rect">
            <a:avLst/>
          </a:prstGeom>
        </p:spPr>
      </p:pic>
    </p:spTree>
    <p:extLst>
      <p:ext uri="{BB962C8B-B14F-4D97-AF65-F5344CB8AC3E}">
        <p14:creationId xmlns:p14="http://schemas.microsoft.com/office/powerpoint/2010/main" val="440336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67B35-FD77-D2CF-1F0D-A33FAC28342B}"/>
              </a:ext>
            </a:extLst>
          </p:cNvPr>
          <p:cNvSpPr>
            <a:spLocks noGrp="1"/>
          </p:cNvSpPr>
          <p:nvPr>
            <p:ph type="ctrTitle"/>
          </p:nvPr>
        </p:nvSpPr>
        <p:spPr/>
        <p:txBody>
          <a:bodyPr/>
          <a:lstStyle/>
          <a:p>
            <a:r>
              <a:rPr lang="en-US" dirty="0"/>
              <a:t>CLUSTERING OPTIMIZATION</a:t>
            </a:r>
          </a:p>
        </p:txBody>
      </p:sp>
      <p:sp>
        <p:nvSpPr>
          <p:cNvPr id="3" name="Subtitle 2">
            <a:extLst>
              <a:ext uri="{FF2B5EF4-FFF2-40B4-BE49-F238E27FC236}">
                <a16:creationId xmlns:a16="http://schemas.microsoft.com/office/drawing/2014/main" id="{6667E736-D337-C1E1-15EA-1416501A4F3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99624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F43CE-BCC9-8371-F6F4-D8AFC05C38BF}"/>
              </a:ext>
            </a:extLst>
          </p:cNvPr>
          <p:cNvSpPr>
            <a:spLocks noGrp="1"/>
          </p:cNvSpPr>
          <p:nvPr>
            <p:ph type="title"/>
          </p:nvPr>
        </p:nvSpPr>
        <p:spPr>
          <a:xfrm>
            <a:off x="871261" y="179427"/>
            <a:ext cx="10515600" cy="1325563"/>
          </a:xfrm>
        </p:spPr>
        <p:txBody>
          <a:bodyPr/>
          <a:lstStyle/>
          <a:p>
            <a:r>
              <a:rPr lang="en-US" dirty="0"/>
              <a:t>Task-Level </a:t>
            </a:r>
            <a:r>
              <a:rPr lang="en-US" dirty="0" err="1"/>
              <a:t>Dendogram</a:t>
            </a:r>
            <a:endParaRPr lang="en-US" dirty="0"/>
          </a:p>
        </p:txBody>
      </p:sp>
      <p:sp>
        <p:nvSpPr>
          <p:cNvPr id="3" name="Content Placeholder 2">
            <a:extLst>
              <a:ext uri="{FF2B5EF4-FFF2-40B4-BE49-F238E27FC236}">
                <a16:creationId xmlns:a16="http://schemas.microsoft.com/office/drawing/2014/main" id="{64B200F7-6D81-6E53-1201-4B46235959AB}"/>
              </a:ext>
            </a:extLst>
          </p:cNvPr>
          <p:cNvSpPr>
            <a:spLocks noGrp="1"/>
          </p:cNvSpPr>
          <p:nvPr>
            <p:ph idx="1"/>
          </p:nvPr>
        </p:nvSpPr>
        <p:spPr>
          <a:xfrm>
            <a:off x="755073" y="1504990"/>
            <a:ext cx="4695701" cy="4848309"/>
          </a:xfrm>
        </p:spPr>
        <p:txBody>
          <a:bodyPr>
            <a:normAutofit fontScale="92500"/>
          </a:bodyPr>
          <a:lstStyle/>
          <a:p>
            <a:pPr fontAlgn="base"/>
            <a:r>
              <a:rPr lang="en-US" sz="2400" dirty="0"/>
              <a:t>Performed </a:t>
            </a:r>
            <a:r>
              <a:rPr lang="en-US" sz="2400" b="1" dirty="0"/>
              <a:t>Agglomerative Hierarchical Clustering </a:t>
            </a:r>
            <a:r>
              <a:rPr lang="en-US" sz="2400" dirty="0"/>
              <a:t>with </a:t>
            </a:r>
            <a:r>
              <a:rPr lang="en-US" sz="2400" b="1" dirty="0"/>
              <a:t>Ward’s Linkage</a:t>
            </a:r>
            <a:r>
              <a:rPr lang="en-US" sz="2400" dirty="0"/>
              <a:t> on 1,500+ individual RLHF tasks.</a:t>
            </a:r>
          </a:p>
          <a:p>
            <a:pPr fontAlgn="base"/>
            <a:r>
              <a:rPr lang="en-US" sz="2400" b="1" dirty="0"/>
              <a:t>Objective: </a:t>
            </a:r>
            <a:r>
              <a:rPr lang="en-US" sz="2400" dirty="0"/>
              <a:t>To find the "Natural Clusters" of work quality before applying any human labels.</a:t>
            </a:r>
          </a:p>
          <a:p>
            <a:pPr fontAlgn="base"/>
            <a:r>
              <a:rPr lang="en-US" sz="2400" b="1" dirty="0"/>
              <a:t>The Big Split:</a:t>
            </a:r>
            <a:r>
              <a:rPr lang="en-US" sz="2400" dirty="0"/>
              <a:t> The first major branch (left vs. right) shows the fundamental mathematical </a:t>
            </a:r>
            <a:r>
              <a:rPr lang="en-US" sz="2400"/>
              <a:t>divide between </a:t>
            </a:r>
            <a:r>
              <a:rPr lang="en-US" sz="2400" dirty="0"/>
              <a:t>"Standard/Compliant" behaviors and "Anomalous" shortcuts.</a:t>
            </a:r>
          </a:p>
          <a:p>
            <a:pPr fontAlgn="base"/>
            <a:endParaRPr lang="en-US" sz="2400" dirty="0"/>
          </a:p>
          <a:p>
            <a:endParaRPr lang="en-US" sz="2400" dirty="0"/>
          </a:p>
        </p:txBody>
      </p:sp>
      <p:pic>
        <p:nvPicPr>
          <p:cNvPr id="8" name="Picture 7">
            <a:extLst>
              <a:ext uri="{FF2B5EF4-FFF2-40B4-BE49-F238E27FC236}">
                <a16:creationId xmlns:a16="http://schemas.microsoft.com/office/drawing/2014/main" id="{EF927FC2-E4A4-7156-52F0-AF4F6936A4C5}"/>
              </a:ext>
            </a:extLst>
          </p:cNvPr>
          <p:cNvPicPr>
            <a:picLocks noChangeAspect="1"/>
          </p:cNvPicPr>
          <p:nvPr/>
        </p:nvPicPr>
        <p:blipFill>
          <a:blip r:embed="rId3"/>
          <a:stretch>
            <a:fillRect/>
          </a:stretch>
        </p:blipFill>
        <p:spPr>
          <a:xfrm>
            <a:off x="5572125" y="1403987"/>
            <a:ext cx="6374420" cy="4463536"/>
          </a:xfrm>
          <a:prstGeom prst="rect">
            <a:avLst/>
          </a:prstGeom>
        </p:spPr>
      </p:pic>
    </p:spTree>
    <p:extLst>
      <p:ext uri="{BB962C8B-B14F-4D97-AF65-F5344CB8AC3E}">
        <p14:creationId xmlns:p14="http://schemas.microsoft.com/office/powerpoint/2010/main" val="3606146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754D2-2680-C8A0-A109-1A2307EEA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6AA1C-EE3A-BCAC-C7D2-2AEFD22695D4}"/>
              </a:ext>
            </a:extLst>
          </p:cNvPr>
          <p:cNvSpPr>
            <a:spLocks noGrp="1"/>
          </p:cNvSpPr>
          <p:nvPr>
            <p:ph type="title"/>
          </p:nvPr>
        </p:nvSpPr>
        <p:spPr>
          <a:xfrm>
            <a:off x="871261" y="179427"/>
            <a:ext cx="10515600" cy="1325563"/>
          </a:xfrm>
        </p:spPr>
        <p:txBody>
          <a:bodyPr>
            <a:normAutofit/>
          </a:bodyPr>
          <a:lstStyle/>
          <a:p>
            <a:r>
              <a:rPr lang="en-US" dirty="0"/>
              <a:t>Expert-Level </a:t>
            </a:r>
            <a:r>
              <a:rPr lang="en-US" dirty="0" err="1"/>
              <a:t>Dendogram</a:t>
            </a:r>
            <a:br>
              <a:rPr lang="en-US" dirty="0"/>
            </a:br>
            <a:r>
              <a:rPr lang="en-US" sz="2400" b="1" dirty="0"/>
              <a:t>Mapping the Behavioral Evolution of the Workforce</a:t>
            </a:r>
            <a:endParaRPr lang="en-US" b="1" dirty="0"/>
          </a:p>
        </p:txBody>
      </p:sp>
      <p:sp>
        <p:nvSpPr>
          <p:cNvPr id="3" name="Content Placeholder 2">
            <a:extLst>
              <a:ext uri="{FF2B5EF4-FFF2-40B4-BE49-F238E27FC236}">
                <a16:creationId xmlns:a16="http://schemas.microsoft.com/office/drawing/2014/main" id="{C7ADE580-FBC8-59DC-99FC-FE7568B0A51C}"/>
              </a:ext>
            </a:extLst>
          </p:cNvPr>
          <p:cNvSpPr>
            <a:spLocks noGrp="1"/>
          </p:cNvSpPr>
          <p:nvPr>
            <p:ph idx="1"/>
          </p:nvPr>
        </p:nvSpPr>
        <p:spPr>
          <a:xfrm>
            <a:off x="755073" y="1504990"/>
            <a:ext cx="4099225" cy="4848309"/>
          </a:xfrm>
        </p:spPr>
        <p:txBody>
          <a:bodyPr>
            <a:normAutofit fontScale="92500" lnSpcReduction="20000"/>
          </a:bodyPr>
          <a:lstStyle/>
          <a:p>
            <a:r>
              <a:rPr lang="en-US" sz="2400" dirty="0"/>
              <a:t>Utilized </a:t>
            </a:r>
            <a:r>
              <a:rPr lang="en-US" sz="2400" b="1" dirty="0"/>
              <a:t>Agglomerative Hierarchical Clustering</a:t>
            </a:r>
            <a:r>
              <a:rPr lang="en-US" sz="2400" dirty="0"/>
              <a:t> with </a:t>
            </a:r>
            <a:r>
              <a:rPr lang="en-US" sz="2400" b="1" dirty="0"/>
              <a:t>Ward’s Linkage</a:t>
            </a:r>
            <a:r>
              <a:rPr lang="en-US" sz="2400" dirty="0"/>
              <a:t> to minimize within-cluster variance.</a:t>
            </a:r>
          </a:p>
          <a:p>
            <a:pPr fontAlgn="base"/>
            <a:r>
              <a:rPr lang="en-US" sz="2400"/>
              <a:t>Features were </a:t>
            </a:r>
            <a:r>
              <a:rPr lang="en-US" sz="2400" dirty="0"/>
              <a:t>aggregated at the </a:t>
            </a:r>
            <a:r>
              <a:rPr lang="en-US" sz="2400" b="1" dirty="0"/>
              <a:t>Expert Level</a:t>
            </a:r>
            <a:r>
              <a:rPr lang="en-US" sz="2400" dirty="0"/>
              <a:t> (averaging scores for time, similarity, and diversity per contractor) to identify consistent long-term habits.</a:t>
            </a:r>
          </a:p>
          <a:p>
            <a:pPr fontAlgn="base"/>
            <a:r>
              <a:rPr lang="en-US" sz="2400" dirty="0"/>
              <a:t>Unlike task-level noise, this hierarchy reveals </a:t>
            </a:r>
            <a:r>
              <a:rPr lang="en-US" sz="2400" b="1" dirty="0"/>
              <a:t>Persistent Offender Patterns</a:t>
            </a:r>
            <a:r>
              <a:rPr lang="en-US" sz="2400" dirty="0"/>
              <a:t> (e.g., experts who </a:t>
            </a:r>
            <a:r>
              <a:rPr lang="en-US" sz="2400" i="1" dirty="0"/>
              <a:t>consistently</a:t>
            </a:r>
            <a:r>
              <a:rPr lang="en-US" sz="2400" dirty="0"/>
              <a:t> speed-run across all assigned tasks).</a:t>
            </a:r>
          </a:p>
          <a:p>
            <a:endParaRPr lang="en-US" sz="2400" dirty="0"/>
          </a:p>
        </p:txBody>
      </p:sp>
      <p:pic>
        <p:nvPicPr>
          <p:cNvPr id="5" name="Picture 4">
            <a:extLst>
              <a:ext uri="{FF2B5EF4-FFF2-40B4-BE49-F238E27FC236}">
                <a16:creationId xmlns:a16="http://schemas.microsoft.com/office/drawing/2014/main" id="{68D2F52A-8831-FB9E-CD3A-6CEC748C7467}"/>
              </a:ext>
            </a:extLst>
          </p:cNvPr>
          <p:cNvPicPr>
            <a:picLocks noChangeAspect="1"/>
          </p:cNvPicPr>
          <p:nvPr/>
        </p:nvPicPr>
        <p:blipFill>
          <a:blip r:embed="rId2"/>
          <a:stretch>
            <a:fillRect/>
          </a:stretch>
        </p:blipFill>
        <p:spPr>
          <a:xfrm>
            <a:off x="4854298" y="1390568"/>
            <a:ext cx="7139720" cy="4076863"/>
          </a:xfrm>
          <a:prstGeom prst="rect">
            <a:avLst/>
          </a:prstGeom>
        </p:spPr>
      </p:pic>
    </p:spTree>
    <p:extLst>
      <p:ext uri="{BB962C8B-B14F-4D97-AF65-F5344CB8AC3E}">
        <p14:creationId xmlns:p14="http://schemas.microsoft.com/office/powerpoint/2010/main" val="2220953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E197B-A947-384D-BC49-53D48F0CAE86}"/>
              </a:ext>
            </a:extLst>
          </p:cNvPr>
          <p:cNvSpPr>
            <a:spLocks noGrp="1"/>
          </p:cNvSpPr>
          <p:nvPr>
            <p:ph type="title"/>
          </p:nvPr>
        </p:nvSpPr>
        <p:spPr>
          <a:xfrm>
            <a:off x="838200" y="365125"/>
            <a:ext cx="4880429" cy="1325563"/>
          </a:xfrm>
        </p:spPr>
        <p:txBody>
          <a:bodyPr/>
          <a:lstStyle/>
          <a:p>
            <a:r>
              <a:rPr lang="en-US" dirty="0"/>
              <a:t>Task-Level Heatmap</a:t>
            </a:r>
          </a:p>
        </p:txBody>
      </p:sp>
      <p:sp>
        <p:nvSpPr>
          <p:cNvPr id="3" name="Content Placeholder 2">
            <a:extLst>
              <a:ext uri="{FF2B5EF4-FFF2-40B4-BE49-F238E27FC236}">
                <a16:creationId xmlns:a16="http://schemas.microsoft.com/office/drawing/2014/main" id="{11D46F3A-9E3A-F213-853A-34159FF4BDFF}"/>
              </a:ext>
            </a:extLst>
          </p:cNvPr>
          <p:cNvSpPr>
            <a:spLocks noGrp="1"/>
          </p:cNvSpPr>
          <p:nvPr>
            <p:ph idx="1"/>
          </p:nvPr>
        </p:nvSpPr>
        <p:spPr>
          <a:xfrm>
            <a:off x="838200" y="1825625"/>
            <a:ext cx="4880429" cy="4351338"/>
          </a:xfrm>
        </p:spPr>
        <p:txBody>
          <a:bodyPr/>
          <a:lstStyle/>
          <a:p>
            <a:r>
              <a:rPr lang="en-US" dirty="0"/>
              <a:t>This heatmap visualizes the specific intensity of features for each fraudulent instance, allowing us to see the 'fingerprint' of a speed-runner vs. a logic-faker.</a:t>
            </a:r>
          </a:p>
        </p:txBody>
      </p:sp>
      <p:pic>
        <p:nvPicPr>
          <p:cNvPr id="5" name="Picture 4">
            <a:extLst>
              <a:ext uri="{FF2B5EF4-FFF2-40B4-BE49-F238E27FC236}">
                <a16:creationId xmlns:a16="http://schemas.microsoft.com/office/drawing/2014/main" id="{A6A1D4D8-3C3F-2CC0-4806-4666CB709CDD}"/>
              </a:ext>
            </a:extLst>
          </p:cNvPr>
          <p:cNvPicPr>
            <a:picLocks noChangeAspect="1"/>
          </p:cNvPicPr>
          <p:nvPr/>
        </p:nvPicPr>
        <p:blipFill>
          <a:blip r:embed="rId2"/>
          <a:stretch>
            <a:fillRect/>
          </a:stretch>
        </p:blipFill>
        <p:spPr>
          <a:xfrm>
            <a:off x="6404806" y="196739"/>
            <a:ext cx="5066428" cy="6464522"/>
          </a:xfrm>
          <a:prstGeom prst="rect">
            <a:avLst/>
          </a:prstGeom>
        </p:spPr>
      </p:pic>
    </p:spTree>
    <p:extLst>
      <p:ext uri="{BB962C8B-B14F-4D97-AF65-F5344CB8AC3E}">
        <p14:creationId xmlns:p14="http://schemas.microsoft.com/office/powerpoint/2010/main" val="1885766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B5E6A-842A-BD24-4097-E5FD0D553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F052D2-041C-2D62-F602-4AE0007A2021}"/>
              </a:ext>
            </a:extLst>
          </p:cNvPr>
          <p:cNvSpPr>
            <a:spLocks noGrp="1"/>
          </p:cNvSpPr>
          <p:nvPr>
            <p:ph type="title"/>
          </p:nvPr>
        </p:nvSpPr>
        <p:spPr>
          <a:xfrm>
            <a:off x="838200" y="365125"/>
            <a:ext cx="5257800" cy="1325563"/>
          </a:xfrm>
        </p:spPr>
        <p:txBody>
          <a:bodyPr/>
          <a:lstStyle/>
          <a:p>
            <a:r>
              <a:rPr lang="en-US" dirty="0"/>
              <a:t>Expert-Level Heatmap</a:t>
            </a:r>
          </a:p>
        </p:txBody>
      </p:sp>
      <p:sp>
        <p:nvSpPr>
          <p:cNvPr id="3" name="Content Placeholder 2">
            <a:extLst>
              <a:ext uri="{FF2B5EF4-FFF2-40B4-BE49-F238E27FC236}">
                <a16:creationId xmlns:a16="http://schemas.microsoft.com/office/drawing/2014/main" id="{042E23E3-78D1-0148-5EC8-38FCECF19B9B}"/>
              </a:ext>
            </a:extLst>
          </p:cNvPr>
          <p:cNvSpPr>
            <a:spLocks noGrp="1"/>
          </p:cNvSpPr>
          <p:nvPr>
            <p:ph idx="1"/>
          </p:nvPr>
        </p:nvSpPr>
        <p:spPr>
          <a:xfrm>
            <a:off x="838200" y="1825625"/>
            <a:ext cx="4880429" cy="4351338"/>
          </a:xfrm>
        </p:spPr>
        <p:txBody>
          <a:bodyPr/>
          <a:lstStyle/>
          <a:p>
            <a:r>
              <a:rPr lang="en-US" dirty="0"/>
              <a:t>Aggregated the data per expert to identify habitual offenders. This is the final output for human supervisors to decide who needs intervention.</a:t>
            </a:r>
          </a:p>
        </p:txBody>
      </p:sp>
      <p:pic>
        <p:nvPicPr>
          <p:cNvPr id="6" name="Picture 5">
            <a:extLst>
              <a:ext uri="{FF2B5EF4-FFF2-40B4-BE49-F238E27FC236}">
                <a16:creationId xmlns:a16="http://schemas.microsoft.com/office/drawing/2014/main" id="{53FC8473-EA21-A488-6603-849230E30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478023"/>
            <a:ext cx="5763334" cy="6014852"/>
          </a:xfrm>
          <a:prstGeom prst="rect">
            <a:avLst/>
          </a:prstGeom>
        </p:spPr>
      </p:pic>
    </p:spTree>
    <p:extLst>
      <p:ext uri="{BB962C8B-B14F-4D97-AF65-F5344CB8AC3E}">
        <p14:creationId xmlns:p14="http://schemas.microsoft.com/office/powerpoint/2010/main" val="1224917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595D5-BC06-6009-104B-A61AE7993703}"/>
              </a:ext>
            </a:extLst>
          </p:cNvPr>
          <p:cNvSpPr>
            <a:spLocks noGrp="1"/>
          </p:cNvSpPr>
          <p:nvPr>
            <p:ph type="title"/>
          </p:nvPr>
        </p:nvSpPr>
        <p:spPr>
          <a:xfrm>
            <a:off x="838200" y="65113"/>
            <a:ext cx="10515600" cy="894258"/>
          </a:xfrm>
        </p:spPr>
        <p:txBody>
          <a:bodyPr/>
          <a:lstStyle/>
          <a:p>
            <a:r>
              <a:rPr lang="en-US" dirty="0"/>
              <a:t>Silhouette Scores</a:t>
            </a:r>
          </a:p>
        </p:txBody>
      </p:sp>
      <p:sp>
        <p:nvSpPr>
          <p:cNvPr id="3" name="Content Placeholder 2">
            <a:extLst>
              <a:ext uri="{FF2B5EF4-FFF2-40B4-BE49-F238E27FC236}">
                <a16:creationId xmlns:a16="http://schemas.microsoft.com/office/drawing/2014/main" id="{0E61FC1B-F068-71DA-5B33-FAA28811C91F}"/>
              </a:ext>
            </a:extLst>
          </p:cNvPr>
          <p:cNvSpPr>
            <a:spLocks noGrp="1"/>
          </p:cNvSpPr>
          <p:nvPr>
            <p:ph idx="1"/>
          </p:nvPr>
        </p:nvSpPr>
        <p:spPr>
          <a:xfrm>
            <a:off x="838200" y="871537"/>
            <a:ext cx="4903033" cy="1089427"/>
          </a:xfrm>
        </p:spPr>
        <p:txBody>
          <a:bodyPr>
            <a:normAutofit fontScale="92500" lnSpcReduction="20000"/>
          </a:bodyPr>
          <a:lstStyle/>
          <a:p>
            <a:r>
              <a:rPr lang="en-US" dirty="0"/>
              <a:t>Task-Level</a:t>
            </a:r>
          </a:p>
          <a:p>
            <a:pPr lvl="1" latinLnBrk="1"/>
            <a:r>
              <a:rPr lang="en-US" sz="1800" dirty="0"/>
              <a:t>Optimal Clusters Identified: 4</a:t>
            </a:r>
          </a:p>
          <a:p>
            <a:pPr lvl="1" latinLnBrk="1"/>
            <a:r>
              <a:rPr lang="en-US" sz="1800" dirty="0"/>
              <a:t>Silhouette Score: 0.3094</a:t>
            </a:r>
          </a:p>
          <a:p>
            <a:endParaRPr lang="en-US" dirty="0"/>
          </a:p>
          <a:p>
            <a:endParaRPr lang="en-US" dirty="0"/>
          </a:p>
        </p:txBody>
      </p:sp>
      <p:sp>
        <p:nvSpPr>
          <p:cNvPr id="4" name="Content Placeholder 2">
            <a:extLst>
              <a:ext uri="{FF2B5EF4-FFF2-40B4-BE49-F238E27FC236}">
                <a16:creationId xmlns:a16="http://schemas.microsoft.com/office/drawing/2014/main" id="{5CC89B89-C2DA-E507-18C4-BE86FCA3E848}"/>
              </a:ext>
            </a:extLst>
          </p:cNvPr>
          <p:cNvSpPr txBox="1">
            <a:spLocks/>
          </p:cNvSpPr>
          <p:nvPr/>
        </p:nvSpPr>
        <p:spPr>
          <a:xfrm>
            <a:off x="6286995" y="871537"/>
            <a:ext cx="4378507" cy="108942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Expert-Level</a:t>
            </a:r>
          </a:p>
          <a:p>
            <a:pPr lvl="1" latinLnBrk="1"/>
            <a:r>
              <a:rPr lang="en-US" sz="1800" dirty="0"/>
              <a:t>Optimal Clusters Identified: 4</a:t>
            </a:r>
          </a:p>
          <a:p>
            <a:pPr lvl="1" latinLnBrk="1"/>
            <a:r>
              <a:rPr lang="en-US" sz="1800" dirty="0"/>
              <a:t>Silhouette Score: 0.3514</a:t>
            </a:r>
          </a:p>
          <a:p>
            <a:pPr marL="457200" lvl="1" indent="0" latinLnBrk="1">
              <a:buNone/>
            </a:pPr>
            <a:endParaRPr lang="en-US" dirty="0"/>
          </a:p>
          <a:p>
            <a:pPr lvl="1"/>
            <a:endParaRPr lang="en-US" dirty="0"/>
          </a:p>
        </p:txBody>
      </p:sp>
      <p:pic>
        <p:nvPicPr>
          <p:cNvPr id="10" name="Picture 9">
            <a:extLst>
              <a:ext uri="{FF2B5EF4-FFF2-40B4-BE49-F238E27FC236}">
                <a16:creationId xmlns:a16="http://schemas.microsoft.com/office/drawing/2014/main" id="{835DFFEC-078F-6EAF-EE35-601D82B17E1D}"/>
              </a:ext>
            </a:extLst>
          </p:cNvPr>
          <p:cNvPicPr>
            <a:picLocks noChangeAspect="1"/>
          </p:cNvPicPr>
          <p:nvPr/>
        </p:nvPicPr>
        <p:blipFill>
          <a:blip r:embed="rId2"/>
          <a:stretch>
            <a:fillRect/>
          </a:stretch>
        </p:blipFill>
        <p:spPr>
          <a:xfrm>
            <a:off x="1591455" y="1901909"/>
            <a:ext cx="3396521" cy="2820730"/>
          </a:xfrm>
          <a:prstGeom prst="rect">
            <a:avLst/>
          </a:prstGeom>
        </p:spPr>
      </p:pic>
      <p:pic>
        <p:nvPicPr>
          <p:cNvPr id="12" name="Picture 11">
            <a:extLst>
              <a:ext uri="{FF2B5EF4-FFF2-40B4-BE49-F238E27FC236}">
                <a16:creationId xmlns:a16="http://schemas.microsoft.com/office/drawing/2014/main" id="{7B3E71EB-85AE-CB32-3BCB-5827E9F38117}"/>
              </a:ext>
            </a:extLst>
          </p:cNvPr>
          <p:cNvPicPr>
            <a:picLocks noChangeAspect="1"/>
          </p:cNvPicPr>
          <p:nvPr/>
        </p:nvPicPr>
        <p:blipFill>
          <a:blip r:embed="rId3"/>
          <a:stretch>
            <a:fillRect/>
          </a:stretch>
        </p:blipFill>
        <p:spPr>
          <a:xfrm>
            <a:off x="6916712" y="1862249"/>
            <a:ext cx="3516442" cy="2860390"/>
          </a:xfrm>
          <a:prstGeom prst="rect">
            <a:avLst/>
          </a:prstGeom>
        </p:spPr>
      </p:pic>
      <p:sp>
        <p:nvSpPr>
          <p:cNvPr id="13" name="TextBox 12">
            <a:extLst>
              <a:ext uri="{FF2B5EF4-FFF2-40B4-BE49-F238E27FC236}">
                <a16:creationId xmlns:a16="http://schemas.microsoft.com/office/drawing/2014/main" id="{028D728C-D1B3-DBF8-A77C-0DA39B0B86EC}"/>
              </a:ext>
            </a:extLst>
          </p:cNvPr>
          <p:cNvSpPr txBox="1"/>
          <p:nvPr/>
        </p:nvSpPr>
        <p:spPr>
          <a:xfrm>
            <a:off x="1070548" y="5086908"/>
            <a:ext cx="9594954" cy="1077218"/>
          </a:xfrm>
          <a:prstGeom prst="rect">
            <a:avLst/>
          </a:prstGeom>
          <a:noFill/>
        </p:spPr>
        <p:txBody>
          <a:bodyPr wrap="square" rtlCol="0">
            <a:spAutoFit/>
          </a:bodyPr>
          <a:lstStyle/>
          <a:p>
            <a:r>
              <a:rPr lang="en-US" sz="1600" i="1" dirty="0"/>
              <a:t>While the Average Silhouette Score gives us a global validation of our K=4 model—showing a healthy average of 0.35—the individual Silhouette Scores allow us to perform a forensic deep-dive. By looking at the individual scores (the blades), I can see that most tasks are well-positioned within their clusters, with no points falling into the "misclassified" or negative zone, which confirms the reliability of our behavioral boundaries.</a:t>
            </a:r>
          </a:p>
        </p:txBody>
      </p:sp>
    </p:spTree>
    <p:extLst>
      <p:ext uri="{BB962C8B-B14F-4D97-AF65-F5344CB8AC3E}">
        <p14:creationId xmlns:p14="http://schemas.microsoft.com/office/powerpoint/2010/main" val="3562468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55189-1051-991D-717E-153D792F4421}"/>
              </a:ext>
            </a:extLst>
          </p:cNvPr>
          <p:cNvSpPr>
            <a:spLocks noGrp="1"/>
          </p:cNvSpPr>
          <p:nvPr>
            <p:ph type="ctrTitle"/>
          </p:nvPr>
        </p:nvSpPr>
        <p:spPr/>
        <p:txBody>
          <a:bodyPr/>
          <a:lstStyle/>
          <a:p>
            <a:r>
              <a:rPr lang="en-US" dirty="0"/>
              <a:t>Supervised Learning</a:t>
            </a:r>
          </a:p>
        </p:txBody>
      </p:sp>
      <p:sp>
        <p:nvSpPr>
          <p:cNvPr id="3" name="Subtitle 2">
            <a:extLst>
              <a:ext uri="{FF2B5EF4-FFF2-40B4-BE49-F238E27FC236}">
                <a16:creationId xmlns:a16="http://schemas.microsoft.com/office/drawing/2014/main" id="{C799CFF7-3254-1591-040F-A727C3F6FC5C}"/>
              </a:ext>
            </a:extLst>
          </p:cNvPr>
          <p:cNvSpPr>
            <a:spLocks noGrp="1"/>
          </p:cNvSpPr>
          <p:nvPr>
            <p:ph type="subTitle" idx="1"/>
          </p:nvPr>
        </p:nvSpPr>
        <p:spPr/>
        <p:txBody>
          <a:bodyPr/>
          <a:lstStyle/>
          <a:p>
            <a:r>
              <a:rPr lang="en-US" dirty="0"/>
              <a:t>Random Forest Classifier</a:t>
            </a:r>
          </a:p>
        </p:txBody>
      </p:sp>
    </p:spTree>
    <p:extLst>
      <p:ext uri="{BB962C8B-B14F-4D97-AF65-F5344CB8AC3E}">
        <p14:creationId xmlns:p14="http://schemas.microsoft.com/office/powerpoint/2010/main" val="2295551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413C7-0A95-E644-B8DA-276DF3667DFC}"/>
              </a:ext>
            </a:extLst>
          </p:cNvPr>
          <p:cNvSpPr>
            <a:spLocks noGrp="1"/>
          </p:cNvSpPr>
          <p:nvPr>
            <p:ph type="title"/>
          </p:nvPr>
        </p:nvSpPr>
        <p:spPr/>
        <p:txBody>
          <a:bodyPr>
            <a:normAutofit fontScale="90000"/>
          </a:bodyPr>
          <a:lstStyle/>
          <a:p>
            <a:r>
              <a:rPr lang="en-US" dirty="0"/>
              <a:t>Supervised Refinement: Random Forest Classifier</a:t>
            </a:r>
            <a:br>
              <a:rPr lang="en-US" dirty="0"/>
            </a:br>
            <a:endParaRPr lang="en-US" dirty="0"/>
          </a:p>
        </p:txBody>
      </p:sp>
      <p:sp>
        <p:nvSpPr>
          <p:cNvPr id="3" name="Content Placeholder 2">
            <a:extLst>
              <a:ext uri="{FF2B5EF4-FFF2-40B4-BE49-F238E27FC236}">
                <a16:creationId xmlns:a16="http://schemas.microsoft.com/office/drawing/2014/main" id="{827076DC-C8CB-9005-53E6-E254C43A4B66}"/>
              </a:ext>
            </a:extLst>
          </p:cNvPr>
          <p:cNvSpPr>
            <a:spLocks noGrp="1"/>
          </p:cNvSpPr>
          <p:nvPr>
            <p:ph idx="1"/>
          </p:nvPr>
        </p:nvSpPr>
        <p:spPr>
          <a:xfrm>
            <a:off x="838200" y="1303020"/>
            <a:ext cx="6025738" cy="5189854"/>
          </a:xfrm>
        </p:spPr>
        <p:txBody>
          <a:bodyPr>
            <a:normAutofit fontScale="92500" lnSpcReduction="10000"/>
          </a:bodyPr>
          <a:lstStyle/>
          <a:p>
            <a:r>
              <a:rPr lang="en-US" sz="2600" dirty="0"/>
              <a:t>The model achieved an accuracy of </a:t>
            </a:r>
            <a:r>
              <a:rPr lang="en-US" sz="2600" b="1" dirty="0"/>
              <a:t>73%</a:t>
            </a:r>
            <a:r>
              <a:rPr lang="en-US" sz="2600" dirty="0"/>
              <a:t>. This non-perfect score is a result of our </a:t>
            </a:r>
            <a:r>
              <a:rPr lang="en-US" sz="2600" b="1" dirty="0"/>
              <a:t>Chaos Injection</a:t>
            </a:r>
            <a:r>
              <a:rPr lang="en-US" sz="2600" dirty="0"/>
              <a:t>, simulating a realistic environment where some experts' behaviors overlap</a:t>
            </a:r>
          </a:p>
          <a:p>
            <a:r>
              <a:rPr lang="en-US" sz="2600" b="1" dirty="0"/>
              <a:t>Why?</a:t>
            </a:r>
            <a:r>
              <a:rPr lang="en-US" sz="2600" dirty="0"/>
              <a:t> I added subtle noise to the training data to prevent the model from creating "too perfect" boundaries. This allows for human variance (fast but honest workers) and improves real-world generalization.</a:t>
            </a:r>
          </a:p>
          <a:p>
            <a:r>
              <a:rPr lang="en-US" sz="2600" b="1" dirty="0"/>
              <a:t>Performance:</a:t>
            </a:r>
            <a:r>
              <a:rPr lang="en-US" sz="2600" dirty="0"/>
              <a:t> Focus on </a:t>
            </a:r>
            <a:r>
              <a:rPr lang="en-US" sz="2600" b="1" dirty="0"/>
              <a:t>Recall (83%+)</a:t>
            </a:r>
            <a:r>
              <a:rPr lang="en-US" sz="2600" dirty="0"/>
              <a:t> to minimize "Missed Fraud“ (False Negatives). </a:t>
            </a:r>
          </a:p>
          <a:p>
            <a:pPr marL="0" indent="0">
              <a:buNone/>
            </a:pPr>
            <a:endParaRPr lang="en-US" sz="2600" dirty="0"/>
          </a:p>
          <a:p>
            <a:endParaRPr lang="en-US" dirty="0"/>
          </a:p>
        </p:txBody>
      </p:sp>
      <p:pic>
        <p:nvPicPr>
          <p:cNvPr id="7" name="Picture 6">
            <a:extLst>
              <a:ext uri="{FF2B5EF4-FFF2-40B4-BE49-F238E27FC236}">
                <a16:creationId xmlns:a16="http://schemas.microsoft.com/office/drawing/2014/main" id="{B4623D5B-C459-5ECF-E805-4AEB64F59B34}"/>
              </a:ext>
            </a:extLst>
          </p:cNvPr>
          <p:cNvPicPr>
            <a:picLocks noChangeAspect="1"/>
          </p:cNvPicPr>
          <p:nvPr/>
        </p:nvPicPr>
        <p:blipFill>
          <a:blip r:embed="rId3"/>
          <a:stretch>
            <a:fillRect/>
          </a:stretch>
        </p:blipFill>
        <p:spPr>
          <a:xfrm>
            <a:off x="7398511" y="985651"/>
            <a:ext cx="3569254" cy="5717969"/>
          </a:xfrm>
          <a:prstGeom prst="rect">
            <a:avLst/>
          </a:prstGeom>
        </p:spPr>
      </p:pic>
    </p:spTree>
    <p:extLst>
      <p:ext uri="{BB962C8B-B14F-4D97-AF65-F5344CB8AC3E}">
        <p14:creationId xmlns:p14="http://schemas.microsoft.com/office/powerpoint/2010/main" val="2926374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99-BB54-1B4E-58A8-6A301CDC2391}"/>
              </a:ext>
            </a:extLst>
          </p:cNvPr>
          <p:cNvSpPr>
            <a:spLocks noGrp="1"/>
          </p:cNvSpPr>
          <p:nvPr>
            <p:ph type="title"/>
          </p:nvPr>
        </p:nvSpPr>
        <p:spPr>
          <a:xfrm>
            <a:off x="838200" y="136525"/>
            <a:ext cx="10515600" cy="1460500"/>
          </a:xfrm>
        </p:spPr>
        <p:txBody>
          <a:bodyPr>
            <a:normAutofit fontScale="90000"/>
          </a:bodyPr>
          <a:lstStyle/>
          <a:p>
            <a:r>
              <a:rPr lang="en-US" sz="3800" b="1" dirty="0"/>
              <a:t>Supervised Learning Performance (Random Forest)</a:t>
            </a:r>
            <a:br>
              <a:rPr lang="en-US" sz="3800" dirty="0"/>
            </a:br>
            <a:r>
              <a:rPr lang="en-US" sz="2800"/>
              <a:t>Quantifying Blackwell </a:t>
            </a:r>
            <a:r>
              <a:rPr lang="en-US" sz="2800" dirty="0"/>
              <a:t>Suite’s Predictive Accuracy &amp; Forensic </a:t>
            </a:r>
            <a:r>
              <a:rPr lang="en-US" sz="2800" dirty="0" err="1"/>
              <a:t>Realibity</a:t>
            </a:r>
            <a:endParaRPr lang="en-US" sz="3800" dirty="0"/>
          </a:p>
        </p:txBody>
      </p:sp>
      <p:sp>
        <p:nvSpPr>
          <p:cNvPr id="3" name="Content Placeholder 2">
            <a:extLst>
              <a:ext uri="{FF2B5EF4-FFF2-40B4-BE49-F238E27FC236}">
                <a16:creationId xmlns:a16="http://schemas.microsoft.com/office/drawing/2014/main" id="{DBFE9784-5222-5E77-FFEA-B1A7783AA9D5}"/>
              </a:ext>
            </a:extLst>
          </p:cNvPr>
          <p:cNvSpPr>
            <a:spLocks noGrp="1"/>
          </p:cNvSpPr>
          <p:nvPr>
            <p:ph idx="1"/>
          </p:nvPr>
        </p:nvSpPr>
        <p:spPr>
          <a:xfrm>
            <a:off x="838200" y="1426325"/>
            <a:ext cx="6141720" cy="4750638"/>
          </a:xfrm>
        </p:spPr>
        <p:txBody>
          <a:bodyPr>
            <a:normAutofit/>
          </a:bodyPr>
          <a:lstStyle/>
          <a:p>
            <a:r>
              <a:rPr lang="en-US" b="1" dirty="0"/>
              <a:t>Overall Model Accuracy (73%):</a:t>
            </a:r>
          </a:p>
          <a:p>
            <a:pPr lvl="1"/>
            <a:r>
              <a:rPr lang="en-US" dirty="0"/>
              <a:t>The model achieves a robust </a:t>
            </a:r>
            <a:r>
              <a:rPr lang="en-US" b="1" dirty="0"/>
              <a:t>73% accuracy</a:t>
            </a:r>
            <a:r>
              <a:rPr lang="en-US" dirty="0"/>
              <a:t> in classifying behavioral patterns.</a:t>
            </a:r>
          </a:p>
          <a:p>
            <a:pPr lvl="1"/>
            <a:r>
              <a:rPr lang="en-US" dirty="0"/>
              <a:t>This is a strong performance given the inherent "noise" and complexity of human-contractor behavior in RLHF tasks</a:t>
            </a:r>
          </a:p>
          <a:p>
            <a:r>
              <a:rPr lang="en-US" b="1" dirty="0"/>
              <a:t>Confusion Matrix Analysis:</a:t>
            </a:r>
            <a:r>
              <a:rPr lang="en-US" dirty="0"/>
              <a:t> * </a:t>
            </a:r>
          </a:p>
          <a:p>
            <a:pPr lvl="1"/>
            <a:r>
              <a:rPr lang="en-US" b="1" dirty="0"/>
              <a:t>142 True Positives:</a:t>
            </a:r>
            <a:r>
              <a:rPr lang="en-US" dirty="0"/>
              <a:t> The system accurately flagged 142 instances of confirmed forensic violations (Speed-running, Logic-faking, etc.).</a:t>
            </a:r>
          </a:p>
          <a:p>
            <a:pPr lvl="1"/>
            <a:r>
              <a:rPr lang="en-US" b="1" dirty="0"/>
              <a:t>Strategic Precision (0.72 for Clean Tasks):</a:t>
            </a:r>
            <a:r>
              <a:rPr lang="en-US" dirty="0"/>
              <a:t> When the system marks a task as "Clean," it is correct </a:t>
            </a:r>
            <a:r>
              <a:rPr lang="en-US" b="1" dirty="0"/>
              <a:t>72% of the time</a:t>
            </a:r>
            <a:r>
              <a:rPr lang="en-US" dirty="0"/>
              <a:t>, significantly reducing the manual workload for human auditors.</a:t>
            </a:r>
          </a:p>
          <a:p>
            <a:pPr lvl="1"/>
            <a:endParaRPr lang="en-US" dirty="0"/>
          </a:p>
          <a:p>
            <a:endParaRPr lang="en-US" dirty="0"/>
          </a:p>
        </p:txBody>
      </p:sp>
      <p:pic>
        <p:nvPicPr>
          <p:cNvPr id="5" name="Picture 4">
            <a:extLst>
              <a:ext uri="{FF2B5EF4-FFF2-40B4-BE49-F238E27FC236}">
                <a16:creationId xmlns:a16="http://schemas.microsoft.com/office/drawing/2014/main" id="{16A2CC88-C1C9-BEFB-36B1-B6F6F8533CC2}"/>
              </a:ext>
            </a:extLst>
          </p:cNvPr>
          <p:cNvPicPr>
            <a:picLocks noChangeAspect="1"/>
          </p:cNvPicPr>
          <p:nvPr/>
        </p:nvPicPr>
        <p:blipFill>
          <a:blip r:embed="rId3"/>
          <a:stretch>
            <a:fillRect/>
          </a:stretch>
        </p:blipFill>
        <p:spPr>
          <a:xfrm>
            <a:off x="7496789" y="1426325"/>
            <a:ext cx="4070371" cy="5149938"/>
          </a:xfrm>
          <a:prstGeom prst="rect">
            <a:avLst/>
          </a:prstGeom>
        </p:spPr>
      </p:pic>
    </p:spTree>
    <p:extLst>
      <p:ext uri="{BB962C8B-B14F-4D97-AF65-F5344CB8AC3E}">
        <p14:creationId xmlns:p14="http://schemas.microsoft.com/office/powerpoint/2010/main" val="3916087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F0580-5CC1-6C3B-6084-AB032640D6B4}"/>
              </a:ext>
            </a:extLst>
          </p:cNvPr>
          <p:cNvSpPr>
            <a:spLocks noGrp="1"/>
          </p:cNvSpPr>
          <p:nvPr>
            <p:ph type="title"/>
          </p:nvPr>
        </p:nvSpPr>
        <p:spPr/>
        <p:txBody>
          <a:bodyPr>
            <a:normAutofit fontScale="90000"/>
          </a:bodyPr>
          <a:lstStyle/>
          <a:p>
            <a:r>
              <a:rPr lang="en-US" sz="4000" dirty="0"/>
              <a:t>Model Performance – Prioritizing Forensic Recall</a:t>
            </a:r>
          </a:p>
        </p:txBody>
      </p:sp>
      <p:sp>
        <p:nvSpPr>
          <p:cNvPr id="3" name="Content Placeholder 2">
            <a:extLst>
              <a:ext uri="{FF2B5EF4-FFF2-40B4-BE49-F238E27FC236}">
                <a16:creationId xmlns:a16="http://schemas.microsoft.com/office/drawing/2014/main" id="{C1A58213-43DD-D1BA-6407-5639AC122A5C}"/>
              </a:ext>
            </a:extLst>
          </p:cNvPr>
          <p:cNvSpPr>
            <a:spLocks noGrp="1"/>
          </p:cNvSpPr>
          <p:nvPr>
            <p:ph idx="1"/>
          </p:nvPr>
        </p:nvSpPr>
        <p:spPr/>
        <p:txBody>
          <a:bodyPr>
            <a:normAutofit/>
          </a:bodyPr>
          <a:lstStyle/>
          <a:p>
            <a:r>
              <a:rPr lang="en-US" b="1" dirty="0"/>
              <a:t>Objective</a:t>
            </a:r>
            <a:r>
              <a:rPr lang="en-US" dirty="0"/>
              <a:t> </a:t>
            </a:r>
          </a:p>
          <a:p>
            <a:pPr lvl="1"/>
            <a:r>
              <a:rPr lang="en-US" dirty="0"/>
              <a:t>To minimize </a:t>
            </a:r>
            <a:r>
              <a:rPr lang="en-US" b="1" dirty="0"/>
              <a:t>"Missed Fraud"</a:t>
            </a:r>
            <a:r>
              <a:rPr lang="en-US" dirty="0"/>
              <a:t> (False Negatives). In an RLHF environment, a missed anomaly is more damaging than a false alarm because it degrades the final LLM training data.</a:t>
            </a:r>
          </a:p>
          <a:p>
            <a:r>
              <a:rPr lang="en-US" b="1" dirty="0"/>
              <a:t>Model Reliability</a:t>
            </a:r>
            <a:endParaRPr lang="en-US" dirty="0"/>
          </a:p>
          <a:p>
            <a:pPr lvl="1"/>
            <a:r>
              <a:rPr lang="en-US" dirty="0"/>
              <a:t>The </a:t>
            </a:r>
            <a:r>
              <a:rPr lang="en-US" b="1" dirty="0"/>
              <a:t>Random Forest</a:t>
            </a:r>
            <a:r>
              <a:rPr lang="en-US" dirty="0"/>
              <a:t> algorithm was tuned to be sensitive to subtle behavioral shifts in </a:t>
            </a:r>
            <a:r>
              <a:rPr lang="en-US" dirty="0" err="1"/>
              <a:t>time_seconds</a:t>
            </a:r>
            <a:r>
              <a:rPr lang="en-US" dirty="0"/>
              <a:t> and </a:t>
            </a:r>
            <a:r>
              <a:rPr lang="en-US" dirty="0" err="1"/>
              <a:t>similarity_score</a:t>
            </a:r>
            <a:r>
              <a:rPr lang="en-US" dirty="0"/>
              <a:t>.</a:t>
            </a:r>
          </a:p>
          <a:p>
            <a:r>
              <a:rPr lang="en-US" b="1" dirty="0"/>
              <a:t>The Trade-off</a:t>
            </a:r>
            <a:r>
              <a:rPr lang="en-US" dirty="0"/>
              <a:t> </a:t>
            </a:r>
          </a:p>
          <a:p>
            <a:pPr lvl="1"/>
            <a:r>
              <a:rPr lang="en-US" dirty="0"/>
              <a:t>By achieving 83% Recall, the Blackwell suite ensures that the vast majority of "Speed-Runners" and "Logic-Fakers" are flagged for manual review, maintaining the high integrity of the dataset.</a:t>
            </a:r>
          </a:p>
          <a:p>
            <a:endParaRPr lang="en-US" dirty="0"/>
          </a:p>
        </p:txBody>
      </p:sp>
    </p:spTree>
    <p:extLst>
      <p:ext uri="{BB962C8B-B14F-4D97-AF65-F5344CB8AC3E}">
        <p14:creationId xmlns:p14="http://schemas.microsoft.com/office/powerpoint/2010/main" val="4131399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78590-A40A-0561-12F0-62672F1D9631}"/>
              </a:ext>
            </a:extLst>
          </p:cNvPr>
          <p:cNvSpPr>
            <a:spLocks noGrp="1"/>
          </p:cNvSpPr>
          <p:nvPr>
            <p:ph type="ctrTitle"/>
          </p:nvPr>
        </p:nvSpPr>
        <p:spPr/>
        <p:txBody>
          <a:bodyPr/>
          <a:lstStyle/>
          <a:p>
            <a:r>
              <a:rPr lang="en-US" b="1" dirty="0"/>
              <a:t>The AI Reasoner</a:t>
            </a:r>
            <a:endParaRPr lang="en-US" dirty="0"/>
          </a:p>
        </p:txBody>
      </p:sp>
      <p:sp>
        <p:nvSpPr>
          <p:cNvPr id="3" name="Subtitle 2">
            <a:extLst>
              <a:ext uri="{FF2B5EF4-FFF2-40B4-BE49-F238E27FC236}">
                <a16:creationId xmlns:a16="http://schemas.microsoft.com/office/drawing/2014/main" id="{82CA4041-0A98-CB7E-7ECD-2B74A6B982C0}"/>
              </a:ext>
            </a:extLst>
          </p:cNvPr>
          <p:cNvSpPr>
            <a:spLocks noGrp="1"/>
          </p:cNvSpPr>
          <p:nvPr>
            <p:ph type="subTitle" idx="1"/>
          </p:nvPr>
        </p:nvSpPr>
        <p:spPr/>
        <p:txBody>
          <a:bodyPr/>
          <a:lstStyle/>
          <a:p>
            <a:r>
              <a:rPr lang="en-US" b="1" dirty="0"/>
              <a:t>Generative AI as a Forensic Auditor</a:t>
            </a:r>
            <a:endParaRPr lang="en-US" dirty="0"/>
          </a:p>
        </p:txBody>
      </p:sp>
    </p:spTree>
    <p:extLst>
      <p:ext uri="{BB962C8B-B14F-4D97-AF65-F5344CB8AC3E}">
        <p14:creationId xmlns:p14="http://schemas.microsoft.com/office/powerpoint/2010/main" val="607293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16EA8-906D-04E4-B136-70C6484737B6}"/>
              </a:ext>
            </a:extLst>
          </p:cNvPr>
          <p:cNvSpPr>
            <a:spLocks noGrp="1"/>
          </p:cNvSpPr>
          <p:nvPr>
            <p:ph type="title"/>
          </p:nvPr>
        </p:nvSpPr>
        <p:spPr>
          <a:xfrm>
            <a:off x="782631" y="344775"/>
            <a:ext cx="5846769" cy="970450"/>
          </a:xfrm>
        </p:spPr>
        <p:txBody>
          <a:bodyPr>
            <a:normAutofit fontScale="90000"/>
          </a:bodyPr>
          <a:lstStyle/>
          <a:p>
            <a:r>
              <a:rPr lang="en-US" dirty="0"/>
              <a:t>The Blackwell Reasoner: </a:t>
            </a:r>
            <a:br>
              <a:rPr lang="en-US" dirty="0"/>
            </a:br>
            <a:r>
              <a:rPr lang="en-US" sz="2800" dirty="0"/>
              <a:t>Natural Language Explainability</a:t>
            </a:r>
          </a:p>
        </p:txBody>
      </p:sp>
      <p:sp>
        <p:nvSpPr>
          <p:cNvPr id="3" name="Content Placeholder 2">
            <a:extLst>
              <a:ext uri="{FF2B5EF4-FFF2-40B4-BE49-F238E27FC236}">
                <a16:creationId xmlns:a16="http://schemas.microsoft.com/office/drawing/2014/main" id="{82549D9E-D3EB-F31B-1DA9-CE7C0EABF381}"/>
              </a:ext>
            </a:extLst>
          </p:cNvPr>
          <p:cNvSpPr>
            <a:spLocks noGrp="1"/>
          </p:cNvSpPr>
          <p:nvPr>
            <p:ph idx="1"/>
          </p:nvPr>
        </p:nvSpPr>
        <p:spPr>
          <a:xfrm>
            <a:off x="838200" y="1825624"/>
            <a:ext cx="5257800" cy="4770047"/>
          </a:xfrm>
        </p:spPr>
        <p:txBody>
          <a:bodyPr>
            <a:normAutofit lnSpcReduction="10000"/>
          </a:bodyPr>
          <a:lstStyle/>
          <a:p>
            <a:pPr fontAlgn="base"/>
            <a:r>
              <a:rPr lang="en-US" sz="2400" dirty="0"/>
              <a:t>This feature serves as a “</a:t>
            </a:r>
            <a:r>
              <a:rPr lang="en-US" sz="2400" b="1" dirty="0"/>
              <a:t>Proof of Concept</a:t>
            </a:r>
            <a:r>
              <a:rPr lang="en-US" sz="2400" dirty="0"/>
              <a:t>”</a:t>
            </a:r>
          </a:p>
          <a:p>
            <a:pPr fontAlgn="base"/>
            <a:r>
              <a:rPr lang="en-US" sz="2400" b="1" dirty="0"/>
              <a:t>The Tech:</a:t>
            </a:r>
            <a:r>
              <a:rPr lang="en-US" sz="2400" dirty="0"/>
              <a:t> Integrated </a:t>
            </a:r>
            <a:r>
              <a:rPr lang="en-US" sz="2400" b="1" dirty="0"/>
              <a:t>GPT-2</a:t>
            </a:r>
            <a:r>
              <a:rPr lang="en-US" sz="2400" dirty="0"/>
              <a:t> via </a:t>
            </a:r>
            <a:r>
              <a:rPr lang="en-US" sz="2400" dirty="0" err="1"/>
              <a:t>HuggingFace</a:t>
            </a:r>
            <a:r>
              <a:rPr lang="en-US" sz="2400" dirty="0"/>
              <a:t> Pipelines.</a:t>
            </a:r>
          </a:p>
          <a:p>
            <a:pPr fontAlgn="base"/>
            <a:r>
              <a:rPr lang="en-US" sz="2400" b="1" dirty="0"/>
              <a:t>Innovation:</a:t>
            </a:r>
            <a:r>
              <a:rPr lang="en-US" sz="2400" dirty="0"/>
              <a:t> Converts raw vector distances (from SBERT) into human-readable justifications.</a:t>
            </a:r>
          </a:p>
          <a:p>
            <a:pPr fontAlgn="base"/>
            <a:r>
              <a:rPr lang="en-US" sz="2400" b="1" dirty="0"/>
              <a:t>The Benefit:</a:t>
            </a:r>
            <a:r>
              <a:rPr lang="en-US" sz="2400" dirty="0"/>
              <a:t> Satisfies the </a:t>
            </a:r>
            <a:r>
              <a:rPr lang="en-US" sz="2400" b="1" dirty="0"/>
              <a:t>"Right to Explanation"</a:t>
            </a:r>
            <a:r>
              <a:rPr lang="en-US" sz="2400" dirty="0"/>
              <a:t> (AI Ethics). Instead of just a "Flag," the system provides a written critique of the expert's work quality.</a:t>
            </a:r>
          </a:p>
          <a:p>
            <a:endParaRPr lang="en-US" dirty="0"/>
          </a:p>
        </p:txBody>
      </p:sp>
      <p:pic>
        <p:nvPicPr>
          <p:cNvPr id="5" name="Picture 4">
            <a:extLst>
              <a:ext uri="{FF2B5EF4-FFF2-40B4-BE49-F238E27FC236}">
                <a16:creationId xmlns:a16="http://schemas.microsoft.com/office/drawing/2014/main" id="{DB88369D-F416-A345-E9EF-C8E82A568869}"/>
              </a:ext>
            </a:extLst>
          </p:cNvPr>
          <p:cNvPicPr>
            <a:picLocks noChangeAspect="1"/>
          </p:cNvPicPr>
          <p:nvPr/>
        </p:nvPicPr>
        <p:blipFill>
          <a:blip r:embed="rId3"/>
          <a:srcRect l="-2514" t="4784" r="2514" b="25611"/>
          <a:stretch>
            <a:fillRect/>
          </a:stretch>
        </p:blipFill>
        <p:spPr>
          <a:xfrm>
            <a:off x="6629400" y="53340"/>
            <a:ext cx="5455920" cy="6751320"/>
          </a:xfrm>
          <a:prstGeom prst="rect">
            <a:avLst/>
          </a:prstGeom>
        </p:spPr>
      </p:pic>
    </p:spTree>
    <p:extLst>
      <p:ext uri="{BB962C8B-B14F-4D97-AF65-F5344CB8AC3E}">
        <p14:creationId xmlns:p14="http://schemas.microsoft.com/office/powerpoint/2010/main" val="3431786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8A99-97EA-E8EE-D87C-EAF8687C660B}"/>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21B7FF3E-14A0-066B-3C9E-501FCA32CF9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116602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759</TotalTime>
  <Words>2783</Words>
  <Application>Microsoft Office PowerPoint</Application>
  <PresentationFormat>Widescreen</PresentationFormat>
  <Paragraphs>145</Paragraphs>
  <Slides>26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Calibri</vt:lpstr>
      <vt:lpstr>Calisto MT</vt:lpstr>
      <vt:lpstr>Wingdings 2</vt:lpstr>
      <vt:lpstr>Slate</vt:lpstr>
      <vt:lpstr>Authenti-Annotator A Multi-Layered Forensic Pipeline for RLHF Integrity</vt:lpstr>
      <vt:lpstr>Problem Framing &amp; Success Metrics</vt:lpstr>
      <vt:lpstr>EDA Key Findings</vt:lpstr>
      <vt:lpstr>Data Acquisition: The Anthropic HH-RLHF Foundation</vt:lpstr>
      <vt:lpstr>Semantic Integrity via Cosine Similarity</vt:lpstr>
      <vt:lpstr>Exploratory Data Analysis (EDA) Visualizing the "Logic Trap" &amp; Integrity Gaps</vt:lpstr>
      <vt:lpstr>Feature Engineering Approach</vt:lpstr>
      <vt:lpstr>Behavioral Simulation: Engineering the Forensic Environment</vt:lpstr>
      <vt:lpstr>Feature Correlation: Validating the Forensic Signal</vt:lpstr>
      <vt:lpstr>Unsupervised Learning</vt:lpstr>
      <vt:lpstr> Dimensionality Reduction &amp; Variance Retention</vt:lpstr>
      <vt:lpstr>The Elbow Method</vt:lpstr>
      <vt:lpstr>K-Means Clustering</vt:lpstr>
      <vt:lpstr>CLUSTERING OPTIMIZATION</vt:lpstr>
      <vt:lpstr>Task-Level Dendogram</vt:lpstr>
      <vt:lpstr>Expert-Level Dendogram Mapping the Behavioral Evolution of the Workforce</vt:lpstr>
      <vt:lpstr>Task-Level Heatmap</vt:lpstr>
      <vt:lpstr>Expert-Level Heatmap</vt:lpstr>
      <vt:lpstr>Silhouette Scores</vt:lpstr>
      <vt:lpstr>Supervised Learning</vt:lpstr>
      <vt:lpstr>Supervised Refinement: Random Forest Classifier </vt:lpstr>
      <vt:lpstr>Supervised Learning Performance (Random Forest) Quantifying Blackwell Suite’s Predictive Accuracy &amp; Forensic Realibity</vt:lpstr>
      <vt:lpstr>Model Performance – Prioritizing Forensic Recall</vt:lpstr>
      <vt:lpstr>The AI Reasoner</vt:lpstr>
      <vt:lpstr>The Blackwell Reasoner:  Natural Language Explainability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harryhoudini</dc:creator>
  <cp:lastModifiedBy>harryhoudini</cp:lastModifiedBy>
  <cp:revision>8</cp:revision>
  <dcterms:created xsi:type="dcterms:W3CDTF">2026-04-02T03:28:03Z</dcterms:created>
  <dcterms:modified xsi:type="dcterms:W3CDTF">2026-04-02T16:25:07Z</dcterms:modified>
</cp:coreProperties>
</file>